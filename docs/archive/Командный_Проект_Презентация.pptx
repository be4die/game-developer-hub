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73" r:id="rId3"/>
    <p:sldId id="276" r:id="rId4"/>
    <p:sldId id="275" r:id="rId5"/>
    <p:sldId id="277" r:id="rId6"/>
    <p:sldId id="279" r:id="rId7"/>
    <p:sldId id="278" r:id="rId8"/>
    <p:sldId id="281" r:id="rId9"/>
    <p:sldId id="284" r:id="rId10"/>
    <p:sldId id="280" r:id="rId11"/>
    <p:sldId id="282" r:id="rId12"/>
    <p:sldId id="272" r:id="rId13"/>
  </p:sldIdLst>
  <p:sldSz cx="18288000" cy="10287000"/>
  <p:notesSz cx="6858000" cy="9144000"/>
  <p:embeddedFontLst>
    <p:embeddedFont>
      <p:font typeface="Alexandria Bold" panose="020B0604020202020204" charset="-78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Garet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37" autoAdjust="0"/>
    <p:restoredTop sz="87791" autoAdjust="0"/>
  </p:normalViewPr>
  <p:slideViewPr>
    <p:cSldViewPr>
      <p:cViewPr>
        <p:scale>
          <a:sx n="33" d="100"/>
          <a:sy n="33" d="100"/>
        </p:scale>
        <p:origin x="2832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92C078-AEA0-4DAC-B6B0-97E40588AD3A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2ABD1-8A71-48D0-8AC7-45ACB78FA4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7317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2ABD1-8A71-48D0-8AC7-45ACB78FA4A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4929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A2ABD1-8A71-48D0-8AC7-45ACB78FA4A7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2695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A2ABD1-8A71-48D0-8AC7-45ACB78FA4A7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620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A2ABD1-8A71-48D0-8AC7-45ACB78FA4A7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2395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A2ABD1-8A71-48D0-8AC7-45ACB78FA4A7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63421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A2ABD1-8A71-48D0-8AC7-45ACB78FA4A7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18239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A2ABD1-8A71-48D0-8AC7-45ACB78FA4A7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63073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A2ABD1-8A71-48D0-8AC7-45ACB78FA4A7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3875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A2ABD1-8A71-48D0-8AC7-45ACB78FA4A7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07261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A2ABD1-8A71-48D0-8AC7-45ACB78FA4A7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44437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A2ABD1-8A71-48D0-8AC7-45ACB78FA4A7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16127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2ABD1-8A71-48D0-8AC7-45ACB78FA4A7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4150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10" Type="http://schemas.openxmlformats.org/officeDocument/2006/relationships/image" Target="../media/image15.svg"/><Relationship Id="rId4" Type="http://schemas.openxmlformats.org/officeDocument/2006/relationships/image" Target="../media/image13.sv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2.sv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9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10" Type="http://schemas.openxmlformats.org/officeDocument/2006/relationships/image" Target="../media/image22.png"/><Relationship Id="rId4" Type="http://schemas.openxmlformats.org/officeDocument/2006/relationships/image" Target="../media/image1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2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2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g"/><Relationship Id="rId13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27.jp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31.png"/><Relationship Id="rId5" Type="http://schemas.openxmlformats.org/officeDocument/2006/relationships/image" Target="../media/image9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.sv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8204953" y="9394497"/>
            <a:ext cx="1878094" cy="705137"/>
            <a:chOff x="0" y="0"/>
            <a:chExt cx="494642" cy="18571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4642" cy="185715"/>
            </a:xfrm>
            <a:custGeom>
              <a:avLst/>
              <a:gdLst/>
              <a:ahLst/>
              <a:cxnLst/>
              <a:rect l="l" t="t" r="r" b="b"/>
              <a:pathLst>
                <a:path w="494642" h="185715">
                  <a:moveTo>
                    <a:pt x="92858" y="0"/>
                  </a:moveTo>
                  <a:lnTo>
                    <a:pt x="401785" y="0"/>
                  </a:lnTo>
                  <a:cubicBezTo>
                    <a:pt x="426412" y="0"/>
                    <a:pt x="450031" y="9783"/>
                    <a:pt x="467445" y="27197"/>
                  </a:cubicBezTo>
                  <a:cubicBezTo>
                    <a:pt x="484859" y="44612"/>
                    <a:pt x="494642" y="68230"/>
                    <a:pt x="494642" y="92858"/>
                  </a:cubicBezTo>
                  <a:lnTo>
                    <a:pt x="494642" y="92858"/>
                  </a:lnTo>
                  <a:cubicBezTo>
                    <a:pt x="494642" y="144141"/>
                    <a:pt x="453068" y="185715"/>
                    <a:pt x="401785" y="185715"/>
                  </a:cubicBezTo>
                  <a:lnTo>
                    <a:pt x="92858" y="185715"/>
                  </a:lnTo>
                  <a:cubicBezTo>
                    <a:pt x="68230" y="185715"/>
                    <a:pt x="44612" y="175932"/>
                    <a:pt x="27197" y="158518"/>
                  </a:cubicBezTo>
                  <a:cubicBezTo>
                    <a:pt x="9783" y="141104"/>
                    <a:pt x="0" y="117485"/>
                    <a:pt x="0" y="92858"/>
                  </a:cubicBezTo>
                  <a:lnTo>
                    <a:pt x="0" y="92858"/>
                  </a:lnTo>
                  <a:cubicBezTo>
                    <a:pt x="0" y="68230"/>
                    <a:pt x="9783" y="44612"/>
                    <a:pt x="27197" y="27197"/>
                  </a:cubicBezTo>
                  <a:cubicBezTo>
                    <a:pt x="44612" y="9783"/>
                    <a:pt x="68230" y="0"/>
                    <a:pt x="92858" y="0"/>
                  </a:cubicBezTo>
                  <a:close/>
                </a:path>
              </a:pathLst>
            </a:custGeom>
            <a:solidFill>
              <a:srgbClr val="545454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94642" cy="223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7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568923" y="29419"/>
            <a:ext cx="1252591" cy="1210527"/>
          </a:xfrm>
          <a:custGeom>
            <a:avLst/>
            <a:gdLst/>
            <a:ahLst/>
            <a:cxnLst/>
            <a:rect l="l" t="t" r="r" b="b"/>
            <a:pathLst>
              <a:path w="1252591" h="1210527">
                <a:moveTo>
                  <a:pt x="0" y="0"/>
                </a:moveTo>
                <a:lnTo>
                  <a:pt x="1252591" y="0"/>
                </a:lnTo>
                <a:lnTo>
                  <a:pt x="1252591" y="1210527"/>
                </a:lnTo>
                <a:lnTo>
                  <a:pt x="0" y="12105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160" y="4067882"/>
            <a:ext cx="18282840" cy="20928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4000" b="1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КУРСОВОЙ ПРОЕКТ</a:t>
            </a:r>
          </a:p>
          <a:p>
            <a:pPr algn="ctr"/>
            <a:r>
              <a:rPr lang="ru-RU" sz="3200" b="1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по дисциплине «Командный проект по программной инженерии»</a:t>
            </a:r>
          </a:p>
          <a:p>
            <a:pPr algn="ctr"/>
            <a:r>
              <a:rPr lang="ru-RU" sz="3200" b="1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на тему</a:t>
            </a:r>
          </a:p>
          <a:p>
            <a:pPr algn="ctr"/>
            <a:r>
              <a:rPr lang="ru-RU" sz="3200" b="1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Платформа для публикации и управления веб-играми.</a:t>
            </a:r>
            <a:endParaRPr lang="en-US" sz="3200" b="1" dirty="0">
              <a:solidFill>
                <a:srgbClr val="3F3D3E"/>
              </a:solidFill>
              <a:latin typeface="Times New Roman" panose="02020603050405020304" pitchFamily="18" charset="0"/>
              <a:ea typeface="Alexandria Bold"/>
              <a:cs typeface="Times New Roman" panose="02020603050405020304" pitchFamily="18" charset="0"/>
              <a:sym typeface="Alexandria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204953" y="6573287"/>
            <a:ext cx="9731599" cy="18615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ru-RU" sz="2800" dirty="0"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Проект выполнен обучающимися группы ДИПРБ-31</a:t>
            </a:r>
            <a:r>
              <a:rPr lang="en-US" sz="2800" dirty="0"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: </a:t>
            </a:r>
            <a:endParaRPr lang="ru-RU" sz="2800" dirty="0"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en-US" sz="2800" dirty="0" err="1"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Наследcков</a:t>
            </a:r>
            <a:r>
              <a:rPr lang="ru-RU" sz="2800" dirty="0" err="1"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ым</a:t>
            </a:r>
            <a:r>
              <a:rPr lang="en-US" sz="2800" dirty="0"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 М</a:t>
            </a:r>
            <a:r>
              <a:rPr lang="ru-RU" sz="2800" dirty="0"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.В</a:t>
            </a:r>
            <a:r>
              <a:rPr lang="en-US" sz="2800" dirty="0"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;</a:t>
            </a:r>
            <a:r>
              <a:rPr lang="ru-RU" sz="2800" dirty="0"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 Федосеевым А.А</a:t>
            </a:r>
            <a:r>
              <a:rPr lang="en-US" sz="2800" dirty="0"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; </a:t>
            </a:r>
            <a:r>
              <a:rPr lang="ru-RU" sz="2800" dirty="0" err="1"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Подосинниковым</a:t>
            </a:r>
            <a:r>
              <a:rPr lang="ru-RU" sz="2800" dirty="0"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 Н.А.</a:t>
            </a:r>
          </a:p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ru-RU" sz="2800" dirty="0"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Руководитель</a:t>
            </a:r>
            <a:r>
              <a:rPr lang="en-US" sz="2800" dirty="0"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: </a:t>
            </a:r>
            <a:r>
              <a:rPr lang="ru-RU" sz="2800" dirty="0"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доцент</a:t>
            </a:r>
            <a:r>
              <a:rPr lang="en-US" sz="2800" dirty="0"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 </a:t>
            </a:r>
            <a:r>
              <a:rPr lang="ru-RU" sz="2800" dirty="0"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Морозов А.В.</a:t>
            </a:r>
            <a:endParaRPr lang="en-US" sz="2800" dirty="0"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284279" y="9419328"/>
            <a:ext cx="1719443" cy="531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6"/>
              </a:lnSpc>
              <a:spcBef>
                <a:spcPct val="0"/>
              </a:spcBef>
            </a:pPr>
            <a:r>
              <a:rPr lang="en-US" sz="3068" dirty="0">
                <a:solidFill>
                  <a:srgbClr val="E9E9E9"/>
                </a:solidFill>
                <a:latin typeface="Garet"/>
                <a:ea typeface="Garet"/>
                <a:cs typeface="Garet"/>
                <a:sym typeface="Garet"/>
              </a:rPr>
              <a:t>2026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466330" y="221615"/>
            <a:ext cx="13844199" cy="823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dirty="0" err="1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Федеральное</a:t>
            </a:r>
            <a:r>
              <a:rPr lang="en-US" sz="1599" dirty="0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 </a:t>
            </a:r>
            <a:r>
              <a:rPr lang="en-US" sz="1599" dirty="0" err="1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агентство</a:t>
            </a:r>
            <a:r>
              <a:rPr lang="en-US" sz="1599" dirty="0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 </a:t>
            </a:r>
            <a:r>
              <a:rPr lang="en-US" sz="1599" dirty="0" err="1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по</a:t>
            </a:r>
            <a:r>
              <a:rPr lang="en-US" sz="1599" dirty="0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 </a:t>
            </a:r>
            <a:r>
              <a:rPr lang="en-US" sz="1599" dirty="0" err="1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рыболовству</a:t>
            </a:r>
            <a:r>
              <a:rPr lang="en-US" sz="1599" dirty="0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 </a:t>
            </a:r>
            <a:r>
              <a:rPr lang="en-US" sz="1599" dirty="0" err="1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Федеральное</a:t>
            </a:r>
            <a:r>
              <a:rPr lang="en-US" sz="1599" dirty="0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 </a:t>
            </a:r>
            <a:r>
              <a:rPr lang="en-US" sz="1599" dirty="0" err="1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государственное</a:t>
            </a:r>
            <a:r>
              <a:rPr lang="en-US" sz="1599" dirty="0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 </a:t>
            </a:r>
            <a:r>
              <a:rPr lang="en-US" sz="1599" dirty="0" err="1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бюджетное</a:t>
            </a:r>
            <a:r>
              <a:rPr lang="en-US" sz="1599" dirty="0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 </a:t>
            </a:r>
            <a:r>
              <a:rPr lang="en-US" sz="1599" dirty="0" err="1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образовательное</a:t>
            </a:r>
            <a:r>
              <a:rPr lang="en-US" sz="1599" dirty="0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 </a:t>
            </a:r>
            <a:r>
              <a:rPr lang="en-US" sz="1599" dirty="0" err="1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учреждение</a:t>
            </a:r>
            <a:r>
              <a:rPr lang="en-US" sz="1599" dirty="0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 </a:t>
            </a:r>
            <a:r>
              <a:rPr lang="en-US" sz="1599" dirty="0" err="1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высшего</a:t>
            </a:r>
            <a:r>
              <a:rPr lang="en-US" sz="1599" dirty="0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 </a:t>
            </a:r>
            <a:r>
              <a:rPr lang="en-US" sz="1599" dirty="0" err="1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образования</a:t>
            </a:r>
            <a:r>
              <a:rPr lang="en-US" sz="1599" dirty="0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 «</a:t>
            </a:r>
            <a:r>
              <a:rPr lang="en-US" sz="1599" dirty="0" err="1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Астраханский</a:t>
            </a:r>
            <a:r>
              <a:rPr lang="en-US" sz="1599" dirty="0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 </a:t>
            </a:r>
            <a:r>
              <a:rPr lang="en-US" sz="1599" dirty="0" err="1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государственный</a:t>
            </a:r>
            <a:r>
              <a:rPr lang="en-US" sz="1599" dirty="0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 </a:t>
            </a:r>
            <a:r>
              <a:rPr lang="en-US" sz="1599" dirty="0" err="1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технический</a:t>
            </a:r>
            <a:r>
              <a:rPr lang="en-US" sz="1599" dirty="0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 </a:t>
            </a:r>
            <a:r>
              <a:rPr lang="en-US" sz="1599" dirty="0" err="1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университет</a:t>
            </a:r>
            <a:r>
              <a:rPr lang="en-US" sz="1599" dirty="0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» </a:t>
            </a:r>
            <a:r>
              <a:rPr lang="en-US" sz="1599" dirty="0" err="1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Система</a:t>
            </a:r>
            <a:r>
              <a:rPr lang="en-US" sz="1599" dirty="0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 </a:t>
            </a:r>
            <a:r>
              <a:rPr lang="en-US" sz="1599" dirty="0" err="1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менеджмента</a:t>
            </a:r>
            <a:r>
              <a:rPr lang="en-US" sz="1599" dirty="0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 </a:t>
            </a:r>
            <a:r>
              <a:rPr lang="en-US" sz="1599" dirty="0" err="1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качества</a:t>
            </a:r>
            <a:r>
              <a:rPr lang="en-US" sz="1599" dirty="0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 в </a:t>
            </a:r>
            <a:r>
              <a:rPr lang="en-US" sz="1599" dirty="0" err="1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области</a:t>
            </a:r>
            <a:r>
              <a:rPr lang="en-US" sz="1599" dirty="0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 </a:t>
            </a:r>
            <a:r>
              <a:rPr lang="en-US" sz="1599" dirty="0" err="1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образования</a:t>
            </a:r>
            <a:r>
              <a:rPr lang="en-US" sz="1599" dirty="0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, </a:t>
            </a:r>
            <a:r>
              <a:rPr lang="en-US" sz="1599" dirty="0" err="1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воспитания</a:t>
            </a:r>
            <a:r>
              <a:rPr lang="en-US" sz="1599" dirty="0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, </a:t>
            </a:r>
            <a:r>
              <a:rPr lang="en-US" sz="1599" dirty="0" err="1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науки</a:t>
            </a:r>
            <a:r>
              <a:rPr lang="en-US" sz="1599" dirty="0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 и </a:t>
            </a:r>
            <a:r>
              <a:rPr lang="en-US" sz="1599" dirty="0" err="1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инноваций</a:t>
            </a:r>
            <a:r>
              <a:rPr lang="en-US" sz="1599" dirty="0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 </a:t>
            </a:r>
            <a:r>
              <a:rPr lang="en-US" sz="1599" dirty="0" err="1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сертифицирована</a:t>
            </a:r>
            <a:r>
              <a:rPr lang="en-US" sz="1599" dirty="0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  ООО «ДКС РУС» </a:t>
            </a:r>
            <a:r>
              <a:rPr lang="en-US" sz="1599" dirty="0" err="1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по</a:t>
            </a:r>
            <a:r>
              <a:rPr lang="en-US" sz="1599" dirty="0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 </a:t>
            </a:r>
            <a:r>
              <a:rPr lang="en-US" sz="1599" dirty="0" err="1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международному</a:t>
            </a:r>
            <a:r>
              <a:rPr lang="en-US" sz="1599" dirty="0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 </a:t>
            </a:r>
            <a:r>
              <a:rPr lang="en-US" sz="1599" dirty="0" err="1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стандарту</a:t>
            </a:r>
            <a:r>
              <a:rPr lang="en-US" sz="1599" dirty="0">
                <a:solidFill>
                  <a:srgbClr val="545454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 ISO 9001:2015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116F16-2ADB-4F81-AA2C-65D06E92EC8F}"/>
              </a:ext>
            </a:extLst>
          </p:cNvPr>
          <p:cNvSpPr txBox="1"/>
          <p:nvPr/>
        </p:nvSpPr>
        <p:spPr>
          <a:xfrm>
            <a:off x="236320" y="1595806"/>
            <a:ext cx="10855354" cy="1570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Институт информационных технологий и коммуникаций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Направление подготовки 09.03.04 «Программная инженерия»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Профиль «Разработка программно-информационных систем»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Кафедра «Автоматизированные системы обработки информации и управления»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FCEE263-D31B-445D-905B-D013E24961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43" y="-675876"/>
            <a:ext cx="18105312" cy="10097194"/>
          </a:xfrm>
          <a:prstGeom prst="rect">
            <a:avLst/>
          </a:prstGeom>
        </p:spPr>
      </p:pic>
      <p:sp>
        <p:nvSpPr>
          <p:cNvPr id="2" name="Freeform 2"/>
          <p:cNvSpPr/>
          <p:nvPr/>
        </p:nvSpPr>
        <p:spPr>
          <a:xfrm rot="5400000">
            <a:off x="-565057" y="-148594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088012" y="545820"/>
            <a:ext cx="10111975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b="1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Анализ предметной области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3F3D3E"/>
              </a:solidFill>
              <a:effectLst/>
              <a:uLnTx/>
              <a:uFillTx/>
              <a:latin typeface="Times New Roman" panose="02020603050405020304" pitchFamily="18" charset="0"/>
              <a:ea typeface="Alexandria Bold"/>
              <a:cs typeface="Times New Roman" panose="02020603050405020304" pitchFamily="18" charset="0"/>
              <a:sym typeface="Alexandria Bold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641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743" b="1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02</a:t>
            </a: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6F90A833-095D-4971-A845-F031DD7A93DD}"/>
              </a:ext>
            </a:extLst>
          </p:cNvPr>
          <p:cNvSpPr txBox="1"/>
          <p:nvPr/>
        </p:nvSpPr>
        <p:spPr>
          <a:xfrm>
            <a:off x="4198407" y="8900439"/>
            <a:ext cx="10111975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i="0" u="none" strike="noStrike" kern="1200" cap="none" spc="0" normalizeH="0" baseline="0" noProof="0" dirty="0">
                <a:ln>
                  <a:noFill/>
                </a:ln>
                <a:solidFill>
                  <a:srgbClr val="3F3D3E"/>
                </a:solidFill>
                <a:effectLst/>
                <a:uLnTx/>
                <a:uFillTx/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Диаграмма 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srgbClr val="3F3D3E"/>
                </a:solidFill>
                <a:effectLst/>
                <a:uLnTx/>
                <a:uFillTx/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AS-IS</a:t>
            </a:r>
          </a:p>
        </p:txBody>
      </p:sp>
      <p:graphicFrame>
        <p:nvGraphicFramePr>
          <p:cNvPr id="15" name="Таблица 15">
            <a:extLst>
              <a:ext uri="{FF2B5EF4-FFF2-40B4-BE49-F238E27FC236}">
                <a16:creationId xmlns:a16="http://schemas.microsoft.com/office/drawing/2014/main" id="{298DB0D2-4046-45A7-A9CD-EC7143A106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081586"/>
              </p:ext>
            </p:extLst>
          </p:nvPr>
        </p:nvGraphicFramePr>
        <p:xfrm>
          <a:off x="529492" y="5165160"/>
          <a:ext cx="17449803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867">
                  <a:extLst>
                    <a:ext uri="{9D8B030D-6E8A-4147-A177-3AD203B41FA5}">
                      <a16:colId xmlns:a16="http://schemas.microsoft.com/office/drawing/2014/main" val="2381213978"/>
                    </a:ext>
                  </a:extLst>
                </a:gridCol>
                <a:gridCol w="1938867">
                  <a:extLst>
                    <a:ext uri="{9D8B030D-6E8A-4147-A177-3AD203B41FA5}">
                      <a16:colId xmlns:a16="http://schemas.microsoft.com/office/drawing/2014/main" val="1105993697"/>
                    </a:ext>
                  </a:extLst>
                </a:gridCol>
                <a:gridCol w="1938867">
                  <a:extLst>
                    <a:ext uri="{9D8B030D-6E8A-4147-A177-3AD203B41FA5}">
                      <a16:colId xmlns:a16="http://schemas.microsoft.com/office/drawing/2014/main" val="243016370"/>
                    </a:ext>
                  </a:extLst>
                </a:gridCol>
                <a:gridCol w="1938867">
                  <a:extLst>
                    <a:ext uri="{9D8B030D-6E8A-4147-A177-3AD203B41FA5}">
                      <a16:colId xmlns:a16="http://schemas.microsoft.com/office/drawing/2014/main" val="1158175697"/>
                    </a:ext>
                  </a:extLst>
                </a:gridCol>
                <a:gridCol w="1938867">
                  <a:extLst>
                    <a:ext uri="{9D8B030D-6E8A-4147-A177-3AD203B41FA5}">
                      <a16:colId xmlns:a16="http://schemas.microsoft.com/office/drawing/2014/main" val="1454303975"/>
                    </a:ext>
                  </a:extLst>
                </a:gridCol>
                <a:gridCol w="1938867">
                  <a:extLst>
                    <a:ext uri="{9D8B030D-6E8A-4147-A177-3AD203B41FA5}">
                      <a16:colId xmlns:a16="http://schemas.microsoft.com/office/drawing/2014/main" val="2330122357"/>
                    </a:ext>
                  </a:extLst>
                </a:gridCol>
                <a:gridCol w="1938867">
                  <a:extLst>
                    <a:ext uri="{9D8B030D-6E8A-4147-A177-3AD203B41FA5}">
                      <a16:colId xmlns:a16="http://schemas.microsoft.com/office/drawing/2014/main" val="1867757993"/>
                    </a:ext>
                  </a:extLst>
                </a:gridCol>
                <a:gridCol w="1938867">
                  <a:extLst>
                    <a:ext uri="{9D8B030D-6E8A-4147-A177-3AD203B41FA5}">
                      <a16:colId xmlns:a16="http://schemas.microsoft.com/office/drawing/2014/main" val="1897814611"/>
                    </a:ext>
                  </a:extLst>
                </a:gridCol>
                <a:gridCol w="1938867">
                  <a:extLst>
                    <a:ext uri="{9D8B030D-6E8A-4147-A177-3AD203B41FA5}">
                      <a16:colId xmlns:a16="http://schemas.microsoft.com/office/drawing/2014/main" val="3525974213"/>
                    </a:ext>
                  </a:extLst>
                </a:gridCol>
              </a:tblGrid>
              <a:tr h="868718"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Настроить 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CI/CD </a:t>
                      </a:r>
                      <a:r>
                        <a:rPr lang="ru-RU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сервера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Загрузить </a:t>
                      </a:r>
                      <a:r>
                        <a:rPr lang="ru-RU" sz="2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билд</a:t>
                      </a:r>
                      <a:r>
                        <a:rPr lang="ru-RU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сервера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Запустить инстанс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Остановить инстанс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Настроить 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CI/CD </a:t>
                      </a:r>
                      <a:r>
                        <a:rPr lang="ru-RU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публикации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Загрузить </a:t>
                      </a:r>
                      <a:r>
                        <a:rPr lang="ru-RU" sz="2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билд</a:t>
                      </a:r>
                      <a:r>
                        <a:rPr lang="ru-RU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в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Провести модерацию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Выгрузить на прод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Сформировать отчёт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9308051"/>
                  </a:ext>
                </a:extLst>
              </a:tr>
            </a:tbl>
          </a:graphicData>
        </a:graphic>
      </p:graphicFrame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7636904D-EDFA-42D7-ABE1-A5F97335F1BC}"/>
              </a:ext>
            </a:extLst>
          </p:cNvPr>
          <p:cNvGrpSpPr/>
          <p:nvPr/>
        </p:nvGrpSpPr>
        <p:grpSpPr>
          <a:xfrm>
            <a:off x="762000" y="3573095"/>
            <a:ext cx="16850043" cy="1646605"/>
            <a:chOff x="762000" y="3573095"/>
            <a:chExt cx="16850043" cy="1646605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E35680E5-D893-4394-A023-3B4A11D40924}"/>
                </a:ext>
              </a:extLst>
            </p:cNvPr>
            <p:cNvSpPr/>
            <p:nvPr/>
          </p:nvSpPr>
          <p:spPr>
            <a:xfrm>
              <a:off x="762000" y="3595122"/>
              <a:ext cx="1524000" cy="1624578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63F36695-2FA5-4E22-A529-063F6FEB2F80}"/>
                </a:ext>
              </a:extLst>
            </p:cNvPr>
            <p:cNvSpPr/>
            <p:nvPr/>
          </p:nvSpPr>
          <p:spPr>
            <a:xfrm>
              <a:off x="8480486" y="3573095"/>
              <a:ext cx="1524000" cy="1624578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7EACDAE7-8E7D-4BDE-91E1-E2AE17625DCE}"/>
                </a:ext>
              </a:extLst>
            </p:cNvPr>
            <p:cNvSpPr/>
            <p:nvPr/>
          </p:nvSpPr>
          <p:spPr>
            <a:xfrm>
              <a:off x="16088043" y="3595122"/>
              <a:ext cx="1524000" cy="1624578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8CE8A91C-A2A3-4698-BCAC-6ACC68BCE63B}"/>
              </a:ext>
            </a:extLst>
          </p:cNvPr>
          <p:cNvGrpSpPr/>
          <p:nvPr/>
        </p:nvGrpSpPr>
        <p:grpSpPr>
          <a:xfrm>
            <a:off x="4526471" y="3595122"/>
            <a:ext cx="11194320" cy="1624578"/>
            <a:chOff x="4526471" y="3595122"/>
            <a:chExt cx="11194320" cy="1624578"/>
          </a:xfrm>
        </p:grpSpPr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5BA4AE0C-81F1-4A77-BA9C-A6589E65AAF0}"/>
                </a:ext>
              </a:extLst>
            </p:cNvPr>
            <p:cNvSpPr/>
            <p:nvPr/>
          </p:nvSpPr>
          <p:spPr>
            <a:xfrm>
              <a:off x="4526471" y="3595122"/>
              <a:ext cx="3314939" cy="1624578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2" name="Прямоугольник 31">
              <a:extLst>
                <a:ext uri="{FF2B5EF4-FFF2-40B4-BE49-F238E27FC236}">
                  <a16:creationId xmlns:a16="http://schemas.microsoft.com/office/drawing/2014/main" id="{79CB601C-CE70-4DC1-8EA9-DBB8D1058BA4}"/>
                </a:ext>
              </a:extLst>
            </p:cNvPr>
            <p:cNvSpPr/>
            <p:nvPr/>
          </p:nvSpPr>
          <p:spPr>
            <a:xfrm>
              <a:off x="10446590" y="3595122"/>
              <a:ext cx="5274201" cy="1570038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4191225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Таблица 4">
            <a:extLst>
              <a:ext uri="{FF2B5EF4-FFF2-40B4-BE49-F238E27FC236}">
                <a16:creationId xmlns:a16="http://schemas.microsoft.com/office/drawing/2014/main" id="{9174050A-C3A1-46CE-969A-E90B6B2644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457797"/>
              </p:ext>
            </p:extLst>
          </p:nvPr>
        </p:nvGraphicFramePr>
        <p:xfrm>
          <a:off x="800974" y="1293818"/>
          <a:ext cx="17182226" cy="758348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9738">
                  <a:extLst>
                    <a:ext uri="{9D8B030D-6E8A-4147-A177-3AD203B41FA5}">
                      <a16:colId xmlns:a16="http://schemas.microsoft.com/office/drawing/2014/main" val="2181825982"/>
                    </a:ext>
                  </a:extLst>
                </a:gridCol>
                <a:gridCol w="6820824">
                  <a:extLst>
                    <a:ext uri="{9D8B030D-6E8A-4147-A177-3AD203B41FA5}">
                      <a16:colId xmlns:a16="http://schemas.microsoft.com/office/drawing/2014/main" val="2177212763"/>
                    </a:ext>
                  </a:extLst>
                </a:gridCol>
                <a:gridCol w="4634662">
                  <a:extLst>
                    <a:ext uri="{9D8B030D-6E8A-4147-A177-3AD203B41FA5}">
                      <a16:colId xmlns:a16="http://schemas.microsoft.com/office/drawing/2014/main" val="4125694360"/>
                    </a:ext>
                  </a:extLst>
                </a:gridCol>
                <a:gridCol w="4897002">
                  <a:extLst>
                    <a:ext uri="{9D8B030D-6E8A-4147-A177-3AD203B41FA5}">
                      <a16:colId xmlns:a16="http://schemas.microsoft.com/office/drawing/2014/main" val="3355145673"/>
                    </a:ext>
                  </a:extLst>
                </a:gridCol>
              </a:tblGrid>
              <a:tr h="57550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E9E9E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rgbClr val="E9E9E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Критерий</a:t>
                      </a:r>
                      <a:endParaRPr lang="en-US" sz="2800" dirty="0">
                        <a:solidFill>
                          <a:srgbClr val="E9E9E9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rgbClr val="E9E9E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Яндекс консоль</a:t>
                      </a:r>
                      <a:endParaRPr lang="en-US" sz="2800" dirty="0">
                        <a:solidFill>
                          <a:srgbClr val="E9E9E9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solidFill>
                            <a:srgbClr val="E9E9E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PlayFab</a:t>
                      </a:r>
                      <a:endParaRPr lang="en-US" sz="2800" dirty="0">
                        <a:solidFill>
                          <a:srgbClr val="E9E9E9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798188"/>
                  </a:ext>
                </a:extLst>
              </a:tr>
              <a:tr h="8759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4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4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Специализация на веб-играх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Да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Да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47127492"/>
                  </a:ext>
                </a:extLst>
              </a:tr>
              <a:tr h="8759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4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4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Оркестрация</a:t>
                      </a:r>
                      <a:r>
                        <a:rPr lang="ru-RU" sz="28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выделенных серверов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Нет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Да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0118478"/>
                  </a:ext>
                </a:extLst>
              </a:tr>
              <a:tr h="8759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4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4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Подключение собственных </a:t>
                      </a:r>
                      <a:r>
                        <a:rPr lang="ru-RU" sz="28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нод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Нет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Нет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2228647"/>
                  </a:ext>
                </a:extLst>
              </a:tr>
              <a:tr h="8759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4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4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Автоматический режим работы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Нет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Да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7913558"/>
                  </a:ext>
                </a:extLst>
              </a:tr>
              <a:tr h="8759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4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4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Встроенный мониторинг и </a:t>
                      </a:r>
                      <a:r>
                        <a:rPr lang="ru-RU" sz="28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логи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Частично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Да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22415101"/>
                  </a:ext>
                </a:extLst>
              </a:tr>
              <a:tr h="8759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4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</a:t>
                      </a:r>
                      <a:endParaRPr lang="en-US" sz="4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Бесплатный доступ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Да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Ограниченно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82354926"/>
                  </a:ext>
                </a:extLst>
              </a:tr>
              <a:tr h="8759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4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</a:t>
                      </a:r>
                      <a:endParaRPr lang="en-US" sz="4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Русскоязычный интерфейс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Да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Нет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91690481"/>
                  </a:ext>
                </a:extLst>
              </a:tr>
              <a:tr h="8759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4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</a:t>
                      </a:r>
                      <a:endParaRPr lang="en-US" sz="4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Поддержка Docker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Нет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Да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51080699"/>
                  </a:ext>
                </a:extLst>
              </a:tr>
            </a:tbl>
          </a:graphicData>
        </a:graphic>
      </p:graphicFrame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088012" y="545820"/>
            <a:ext cx="10111975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3F3D3E"/>
                </a:solidFill>
                <a:effectLst/>
                <a:uLnTx/>
                <a:uFillTx/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Сравнение существующих решений</a:t>
            </a: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641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743" b="1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0</a:t>
            </a:r>
            <a:r>
              <a:rPr lang="en-US" sz="4743" b="1" dirty="0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3</a:t>
            </a:r>
            <a:endParaRPr kumimoji="0" lang="en-US" sz="4743" b="1" i="0" u="none" strike="noStrike" kern="1200" cap="none" spc="0" normalizeH="0" baseline="0" noProof="0" dirty="0">
              <a:ln>
                <a:noFill/>
              </a:ln>
              <a:solidFill>
                <a:srgbClr val="545454"/>
              </a:solidFill>
              <a:effectLst/>
              <a:uLnTx/>
              <a:uFillTx/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34182680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05861D6-32E2-4DE0-8EB0-78D26EB54C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93" y="-425143"/>
            <a:ext cx="18059400" cy="10071588"/>
          </a:xfrm>
          <a:prstGeom prst="rect">
            <a:avLst/>
          </a:prstGeom>
        </p:spPr>
      </p:pic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088012" y="545820"/>
            <a:ext cx="10111975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3F3D3E"/>
                </a:solidFill>
                <a:effectLst/>
                <a:uLnTx/>
                <a:uFillTx/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Разрабатываемая </a:t>
            </a:r>
            <a:r>
              <a:rPr lang="ru-RU" sz="4000" b="1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система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3F3D3E"/>
              </a:solidFill>
              <a:effectLst/>
              <a:uLnTx/>
              <a:uFillTx/>
              <a:latin typeface="Times New Roman" panose="02020603050405020304" pitchFamily="18" charset="0"/>
              <a:ea typeface="Alexandria Bold"/>
              <a:cs typeface="Times New Roman" panose="02020603050405020304" pitchFamily="18" charset="0"/>
              <a:sym typeface="Alexandria Bold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641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743" b="1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04</a:t>
            </a: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6F90A833-095D-4971-A845-F031DD7A93DD}"/>
              </a:ext>
            </a:extLst>
          </p:cNvPr>
          <p:cNvSpPr txBox="1"/>
          <p:nvPr/>
        </p:nvSpPr>
        <p:spPr>
          <a:xfrm>
            <a:off x="4198407" y="8900439"/>
            <a:ext cx="10111975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3F3D3E"/>
                </a:solidFill>
                <a:effectLst/>
                <a:uLnTx/>
                <a:uFillTx/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Диаграмма </a:t>
            </a:r>
            <a:r>
              <a:rPr lang="en-US" sz="3200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TO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3F3D3E"/>
                </a:solidFill>
                <a:effectLst/>
                <a:uLnTx/>
                <a:uFillTx/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-BE</a:t>
            </a:r>
          </a:p>
        </p:txBody>
      </p:sp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5D9A1B87-3235-4ED9-91F1-4B1F1D633F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939768"/>
              </p:ext>
            </p:extLst>
          </p:nvPr>
        </p:nvGraphicFramePr>
        <p:xfrm>
          <a:off x="529491" y="5431398"/>
          <a:ext cx="17148908" cy="11599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9844">
                  <a:extLst>
                    <a:ext uri="{9D8B030D-6E8A-4147-A177-3AD203B41FA5}">
                      <a16:colId xmlns:a16="http://schemas.microsoft.com/office/drawing/2014/main" val="2381213978"/>
                    </a:ext>
                  </a:extLst>
                </a:gridCol>
                <a:gridCol w="2449844">
                  <a:extLst>
                    <a:ext uri="{9D8B030D-6E8A-4147-A177-3AD203B41FA5}">
                      <a16:colId xmlns:a16="http://schemas.microsoft.com/office/drawing/2014/main" val="1105993697"/>
                    </a:ext>
                  </a:extLst>
                </a:gridCol>
                <a:gridCol w="2449844">
                  <a:extLst>
                    <a:ext uri="{9D8B030D-6E8A-4147-A177-3AD203B41FA5}">
                      <a16:colId xmlns:a16="http://schemas.microsoft.com/office/drawing/2014/main" val="243016370"/>
                    </a:ext>
                  </a:extLst>
                </a:gridCol>
                <a:gridCol w="2449844">
                  <a:extLst>
                    <a:ext uri="{9D8B030D-6E8A-4147-A177-3AD203B41FA5}">
                      <a16:colId xmlns:a16="http://schemas.microsoft.com/office/drawing/2014/main" val="1158175697"/>
                    </a:ext>
                  </a:extLst>
                </a:gridCol>
                <a:gridCol w="2449844">
                  <a:extLst>
                    <a:ext uri="{9D8B030D-6E8A-4147-A177-3AD203B41FA5}">
                      <a16:colId xmlns:a16="http://schemas.microsoft.com/office/drawing/2014/main" val="1454303975"/>
                    </a:ext>
                  </a:extLst>
                </a:gridCol>
                <a:gridCol w="2449844">
                  <a:extLst>
                    <a:ext uri="{9D8B030D-6E8A-4147-A177-3AD203B41FA5}">
                      <a16:colId xmlns:a16="http://schemas.microsoft.com/office/drawing/2014/main" val="2330122357"/>
                    </a:ext>
                  </a:extLst>
                </a:gridCol>
                <a:gridCol w="2449844">
                  <a:extLst>
                    <a:ext uri="{9D8B030D-6E8A-4147-A177-3AD203B41FA5}">
                      <a16:colId xmlns:a16="http://schemas.microsoft.com/office/drawing/2014/main" val="1867757993"/>
                    </a:ext>
                  </a:extLst>
                </a:gridCol>
              </a:tblGrid>
              <a:tr h="1159901"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Загрузить билд в хранилище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Управлять инстансом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Мониторить инстанс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Подготовить игру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Провести модерацию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Опубликовать на </a:t>
                      </a:r>
                      <a:r>
                        <a:rPr lang="en-US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Просмотреть статистику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9308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3323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088012" y="545820"/>
            <a:ext cx="10111975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3F3D3E"/>
                </a:solidFill>
                <a:effectLst/>
                <a:uLnTx/>
                <a:uFillTx/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Цели и задачи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3F3D3E"/>
              </a:solidFill>
              <a:effectLst/>
              <a:uLnTx/>
              <a:uFillTx/>
              <a:latin typeface="Times New Roman" panose="02020603050405020304" pitchFamily="18" charset="0"/>
              <a:ea typeface="Alexandria Bold"/>
              <a:cs typeface="Times New Roman" panose="02020603050405020304" pitchFamily="18" charset="0"/>
              <a:sym typeface="Alexandria Bold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641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743" b="1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05</a:t>
            </a: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6F90A833-095D-4971-A845-F031DD7A93DD}"/>
              </a:ext>
            </a:extLst>
          </p:cNvPr>
          <p:cNvSpPr txBox="1"/>
          <p:nvPr/>
        </p:nvSpPr>
        <p:spPr>
          <a:xfrm>
            <a:off x="2133600" y="1546735"/>
            <a:ext cx="13563600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0" normalizeH="0" baseline="0" noProof="0" dirty="0">
                <a:ln>
                  <a:noFill/>
                </a:ln>
                <a:solidFill>
                  <a:srgbClr val="3F3D3E"/>
                </a:solidFill>
                <a:effectLst/>
                <a:uLnTx/>
                <a:uFillTx/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Цель –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3F3D3E"/>
                </a:solidFill>
                <a:effectLst/>
                <a:uLnTx/>
                <a:uFillTx/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 </a:t>
            </a:r>
            <a:r>
              <a:rPr lang="ru-RU" sz="4000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повышение эффективности процессов публикации и управления веб играми, за счет внедрения автоматизированной системы</a:t>
            </a:r>
            <a:r>
              <a:rPr kumimoji="0" lang="ru-RU" sz="4000" b="0" i="0" u="none" strike="noStrike" kern="1200" cap="none" spc="0" normalizeH="0" baseline="0" noProof="0" dirty="0">
                <a:ln>
                  <a:noFill/>
                </a:ln>
                <a:solidFill>
                  <a:srgbClr val="3F3D3E"/>
                </a:solidFill>
                <a:effectLst/>
                <a:uLnTx/>
                <a:uFillTx/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.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3F3D3E"/>
              </a:solidFill>
              <a:effectLst/>
              <a:uLnTx/>
              <a:uFillTx/>
              <a:latin typeface="Times New Roman" panose="02020603050405020304" pitchFamily="18" charset="0"/>
              <a:ea typeface="Alexandria Bold"/>
              <a:cs typeface="Times New Roman" panose="02020603050405020304" pitchFamily="18" charset="0"/>
              <a:sym typeface="Alexandria Bold"/>
            </a:endParaRP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6AFB5FFC-59B4-4A44-86FC-0DE72D194760}"/>
              </a:ext>
            </a:extLst>
          </p:cNvPr>
          <p:cNvSpPr txBox="1"/>
          <p:nvPr/>
        </p:nvSpPr>
        <p:spPr>
          <a:xfrm>
            <a:off x="2133600" y="3996076"/>
            <a:ext cx="13563600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Д</a:t>
            </a:r>
            <a:r>
              <a:rPr kumimoji="0" lang="ru-RU" sz="4000" b="0" i="0" u="none" strike="noStrike" kern="1200" cap="none" spc="0" normalizeH="0" baseline="0" noProof="0" dirty="0">
                <a:ln>
                  <a:noFill/>
                </a:ln>
                <a:solidFill>
                  <a:srgbClr val="3F3D3E"/>
                </a:solidFill>
                <a:effectLst/>
                <a:uLnTx/>
                <a:uFillTx/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ля реализации поставленной цели, необходимо решить следующие задачи: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4000" b="0" i="0" u="none" strike="noStrike" kern="1200" cap="none" spc="0" normalizeH="0" baseline="0" noProof="0" dirty="0">
                <a:ln>
                  <a:noFill/>
                </a:ln>
                <a:solidFill>
                  <a:srgbClr val="3F3D3E"/>
                </a:solidFill>
                <a:effectLst/>
                <a:uLnTx/>
                <a:uFillTx/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Анализ предметной </a:t>
            </a:r>
            <a:r>
              <a:rPr kumimoji="0" lang="ru-RU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3F3D3E"/>
                </a:solidFill>
                <a:effectLst/>
                <a:uLnTx/>
                <a:uFillTx/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обла</a:t>
            </a:r>
            <a:r>
              <a:rPr lang="ru-RU" sz="4000" dirty="0" err="1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сти</a:t>
            </a:r>
            <a:r>
              <a:rPr lang="ru-RU" sz="4000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 и специфики веб-игр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4000" b="0" i="0" u="none" strike="noStrike" kern="1200" cap="none" spc="0" normalizeH="0" baseline="0" noProof="0" dirty="0">
                <a:ln>
                  <a:noFill/>
                </a:ln>
                <a:solidFill>
                  <a:srgbClr val="3F3D3E"/>
                </a:solidFill>
                <a:effectLst/>
                <a:uLnTx/>
                <a:uFillTx/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Проектирование архитектуры платформы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4000" b="0" i="0" u="none" strike="noStrike" kern="1200" cap="none" spc="0" normalizeH="0" baseline="0" noProof="0" dirty="0">
                <a:ln>
                  <a:noFill/>
                </a:ln>
                <a:solidFill>
                  <a:srgbClr val="3F3D3E"/>
                </a:solidFill>
                <a:effectLst/>
                <a:uLnTx/>
                <a:uFillTx/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Разработка автоматизированной системы.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4000" b="0" i="0" u="none" strike="noStrike" kern="1200" cap="none" spc="0" normalizeH="0" baseline="0" noProof="0" dirty="0">
                <a:ln>
                  <a:noFill/>
                </a:ln>
                <a:solidFill>
                  <a:srgbClr val="3F3D3E"/>
                </a:solidFill>
                <a:effectLst/>
                <a:uLnTx/>
                <a:uFillTx/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Документирование проекта в соответствии с установленными требованиями.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4000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Тестирование автоматизированной системы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3F3D3E"/>
              </a:solidFill>
              <a:effectLst/>
              <a:uLnTx/>
              <a:uFillTx/>
              <a:latin typeface="Times New Roman" panose="02020603050405020304" pitchFamily="18" charset="0"/>
              <a:ea typeface="Alexandria Bold"/>
              <a:cs typeface="Times New Roman" panose="02020603050405020304" pitchFamily="18" charset="0"/>
              <a:sym typeface="Alexandria Bold"/>
            </a:endParaRPr>
          </a:p>
        </p:txBody>
      </p:sp>
    </p:spTree>
    <p:extLst>
      <p:ext uri="{BB962C8B-B14F-4D97-AF65-F5344CB8AC3E}">
        <p14:creationId xmlns:p14="http://schemas.microsoft.com/office/powerpoint/2010/main" val="3520749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49C13AC-6813-4ACE-B782-365F3FD8F4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514600" y="2717457"/>
            <a:ext cx="12573000" cy="31874254"/>
          </a:xfrm>
          <a:prstGeom prst="rect">
            <a:avLst/>
          </a:prstGeom>
        </p:spPr>
      </p:pic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088012" y="545820"/>
            <a:ext cx="10111975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b="1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Диаграмма вариантов использования</a:t>
            </a: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641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743" b="1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06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5864D17-C773-44B7-9DDF-835D0835C6B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186284" y="6716285"/>
            <a:ext cx="5000625" cy="230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8323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07407E-6 L 0.00208 -0.4986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-249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08 -0.49862 L 0.00226 -0.93658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" y="-218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6 -0.93658 L 0.00226 -1.51343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88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6 -1.51343 L 0.00226 -1.98395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5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6 -1.98395 L 0.00278 -2.51343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264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088012" y="545820"/>
            <a:ext cx="10111975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3F3D3E"/>
                </a:solidFill>
                <a:effectLst/>
                <a:uLnTx/>
                <a:uFillTx/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Входные и выходные данные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3F3D3E"/>
              </a:solidFill>
              <a:effectLst/>
              <a:uLnTx/>
              <a:uFillTx/>
              <a:latin typeface="Times New Roman" panose="02020603050405020304" pitchFamily="18" charset="0"/>
              <a:ea typeface="Alexandria Bold"/>
              <a:cs typeface="Times New Roman" panose="02020603050405020304" pitchFamily="18" charset="0"/>
              <a:sym typeface="Alexandria Bold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388149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641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743" b="1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07</a:t>
            </a: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6F90A833-095D-4971-A845-F031DD7A93DD}"/>
              </a:ext>
            </a:extLst>
          </p:cNvPr>
          <p:cNvSpPr txBox="1"/>
          <p:nvPr/>
        </p:nvSpPr>
        <p:spPr>
          <a:xfrm>
            <a:off x="2266961" y="2434023"/>
            <a:ext cx="7181839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3F3D3E"/>
                </a:solidFill>
                <a:effectLst/>
                <a:uLnTx/>
                <a:uFillTx/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Входные данные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F3D3E"/>
                </a:solidFill>
                <a:effectLst/>
                <a:uLnTx/>
                <a:uFillTx/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:</a:t>
            </a:r>
          </a:p>
          <a:p>
            <a:pPr marL="571500" marR="0" lvl="0" indent="-5715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600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CEO </a:t>
            </a:r>
            <a:r>
              <a:rPr lang="ru-RU" sz="3600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и Медиа информация игры</a:t>
            </a:r>
            <a:endParaRPr lang="en-US" sz="3600" dirty="0">
              <a:solidFill>
                <a:srgbClr val="3F3D3E"/>
              </a:solidFill>
              <a:latin typeface="Times New Roman" panose="02020603050405020304" pitchFamily="18" charset="0"/>
              <a:ea typeface="Alexandria Bold"/>
              <a:cs typeface="Times New Roman" panose="02020603050405020304" pitchFamily="18" charset="0"/>
              <a:sym typeface="Alexandria Bold"/>
            </a:endParaRPr>
          </a:p>
          <a:p>
            <a:pPr marL="571500" marR="0" lvl="0" indent="-5715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3600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Клиентская сборка игры</a:t>
            </a:r>
          </a:p>
          <a:p>
            <a:pPr marL="571500" marR="0" lvl="0" indent="-5715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3600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Серверная сборка игры</a:t>
            </a:r>
          </a:p>
          <a:p>
            <a:pPr marL="571500" marR="0" lvl="0" indent="-5715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3600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Сообщения в чате</a:t>
            </a:r>
          </a:p>
          <a:p>
            <a:pPr marL="571500" marR="0" lvl="0" indent="-5715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3600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Настройки оркестрации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11CAD4EA-D45A-4D70-9A35-817BEE0F2B5C}"/>
              </a:ext>
            </a:extLst>
          </p:cNvPr>
          <p:cNvSpPr txBox="1"/>
          <p:nvPr/>
        </p:nvSpPr>
        <p:spPr>
          <a:xfrm>
            <a:off x="2256410" y="6243589"/>
            <a:ext cx="10830951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600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Выходные</a:t>
            </a: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3F3D3E"/>
                </a:solidFill>
                <a:effectLst/>
                <a:uLnTx/>
                <a:uFillTx/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 данные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F3D3E"/>
                </a:solidFill>
                <a:effectLst/>
                <a:uLnTx/>
                <a:uFillTx/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:</a:t>
            </a:r>
          </a:p>
          <a:p>
            <a:pPr marL="571500" marR="0" lvl="0" indent="-5715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3600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Результат модерации</a:t>
            </a:r>
          </a:p>
          <a:p>
            <a:pPr marL="571500" marR="0" lvl="0" indent="-5715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3600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Сообщения в чате</a:t>
            </a:r>
          </a:p>
          <a:p>
            <a:pPr marL="571500" marR="0" lvl="0" indent="-5715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3600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Журнал игрового сервера</a:t>
            </a:r>
          </a:p>
          <a:p>
            <a:pPr marL="571500" marR="0" lvl="0" indent="-5715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3600" dirty="0" err="1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Загружанная</a:t>
            </a:r>
            <a:r>
              <a:rPr lang="ru-RU" sz="3600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 игра</a:t>
            </a:r>
            <a:endParaRPr lang="en-US" sz="3600" dirty="0">
              <a:solidFill>
                <a:srgbClr val="3F3D3E"/>
              </a:solidFill>
              <a:latin typeface="Times New Roman" panose="02020603050405020304" pitchFamily="18" charset="0"/>
              <a:ea typeface="Alexandria Bold"/>
              <a:cs typeface="Times New Roman" panose="02020603050405020304" pitchFamily="18" charset="0"/>
              <a:sym typeface="Alexandria Bold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07A99B0-5A93-4B6B-9839-7DF0E04A6E1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36" b="23050"/>
          <a:stretch/>
        </p:blipFill>
        <p:spPr>
          <a:xfrm>
            <a:off x="9792019" y="1315596"/>
            <a:ext cx="3935882" cy="341599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5D12772-61C4-474A-BAEE-A3698D15BBA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7361" y="5599186"/>
            <a:ext cx="3935882" cy="378896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9C0E8BA-C604-478A-ABCD-13B65139CCE1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51" b="16011"/>
          <a:stretch/>
        </p:blipFill>
        <p:spPr>
          <a:xfrm rot="3272883">
            <a:off x="12307702" y="4457687"/>
            <a:ext cx="1805024" cy="158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61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829C3AD8-0423-486D-A252-D11DBF55C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278669"/>
            <a:ext cx="10772775" cy="8394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088012" y="545820"/>
            <a:ext cx="10111975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b="1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Онтологическая модель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3F3D3E"/>
              </a:solidFill>
              <a:effectLst/>
              <a:uLnTx/>
              <a:uFillTx/>
              <a:latin typeface="Times New Roman" panose="02020603050405020304" pitchFamily="18" charset="0"/>
              <a:ea typeface="Alexandria Bold"/>
              <a:cs typeface="Times New Roman" panose="02020603050405020304" pitchFamily="18" charset="0"/>
              <a:sym typeface="Alexandria Bold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5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17822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641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743" b="1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0</a:t>
            </a:r>
            <a:r>
              <a:rPr lang="en-US" sz="4743" b="1" dirty="0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8</a:t>
            </a:r>
            <a:endParaRPr kumimoji="0" lang="en-US" sz="4743" b="1" i="0" u="none" strike="noStrike" kern="1200" cap="none" spc="0" normalizeH="0" baseline="0" noProof="0" dirty="0">
              <a:ln>
                <a:noFill/>
              </a:ln>
              <a:solidFill>
                <a:srgbClr val="545454"/>
              </a:solidFill>
              <a:effectLst/>
              <a:uLnTx/>
              <a:uFillTx/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415C3608-29F9-43E9-8AE6-F33A503E337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817" y="1840531"/>
            <a:ext cx="5186363" cy="6605937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84CD243-9CE7-49AD-B01B-059A592C9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393290"/>
            <a:ext cx="8084938" cy="5974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24720EBC-9C17-4B8B-AAB3-AD358B784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138" y="2905125"/>
            <a:ext cx="15325725" cy="447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4676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3FA347C-5F68-4B1F-8F1B-377DBE12DF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53528" y="1620084"/>
            <a:ext cx="15544800" cy="18946288"/>
          </a:xfrm>
          <a:prstGeom prst="rect">
            <a:avLst/>
          </a:prstGeom>
        </p:spPr>
      </p:pic>
      <p:sp>
        <p:nvSpPr>
          <p:cNvPr id="2" name="Freeform 2"/>
          <p:cNvSpPr/>
          <p:nvPr/>
        </p:nvSpPr>
        <p:spPr>
          <a:xfrm rot="5400000">
            <a:off x="-641257" y="-1759042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088012" y="545820"/>
            <a:ext cx="10111975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3F3D3E"/>
                </a:solidFill>
                <a:effectLst/>
                <a:uLnTx/>
                <a:uFillTx/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Диаграмма развертывания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3F3D3E"/>
              </a:solidFill>
              <a:effectLst/>
              <a:uLnTx/>
              <a:uFillTx/>
              <a:latin typeface="Times New Roman" panose="02020603050405020304" pitchFamily="18" charset="0"/>
              <a:ea typeface="Alexandria Bold"/>
              <a:cs typeface="Times New Roman" panose="02020603050405020304" pitchFamily="18" charset="0"/>
              <a:sym typeface="Alexandria Bold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641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743" b="1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0</a:t>
            </a:r>
            <a:r>
              <a:rPr lang="en-US" sz="4743" b="1" dirty="0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9</a:t>
            </a:r>
            <a:endParaRPr kumimoji="0" lang="en-US" sz="4743" b="1" i="0" u="none" strike="noStrike" kern="1200" cap="none" spc="0" normalizeH="0" baseline="0" noProof="0" dirty="0">
              <a:ln>
                <a:noFill/>
              </a:ln>
              <a:solidFill>
                <a:srgbClr val="545454"/>
              </a:solidFill>
              <a:effectLst/>
              <a:uLnTx/>
              <a:uFillTx/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1335815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7 4.93827E-6 L -1.38889E-7 -0.4450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2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7 -0.44507 L -1.38889E-7 -1.15618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5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641257" y="-1759042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088012" y="50520"/>
            <a:ext cx="10111975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3F3D3E"/>
                </a:solidFill>
                <a:effectLst/>
                <a:uLnTx/>
                <a:uFillTx/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Даталогическая</a:t>
            </a: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3F3D3E"/>
                </a:solidFill>
                <a:effectLst/>
                <a:uLnTx/>
                <a:uFillTx/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 модель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3F3D3E"/>
              </a:solidFill>
              <a:effectLst/>
              <a:uLnTx/>
              <a:uFillTx/>
              <a:latin typeface="Times New Roman" panose="02020603050405020304" pitchFamily="18" charset="0"/>
              <a:ea typeface="Alexandria Bold"/>
              <a:cs typeface="Times New Roman" panose="02020603050405020304" pitchFamily="18" charset="0"/>
              <a:sym typeface="Alexandria Bold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569621" y="9088458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641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743" b="1" dirty="0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10</a:t>
            </a:r>
            <a:endParaRPr kumimoji="0" lang="en-US" sz="4743" b="1" i="0" u="none" strike="noStrike" kern="1200" cap="none" spc="0" normalizeH="0" baseline="0" noProof="0" dirty="0">
              <a:ln>
                <a:noFill/>
              </a:ln>
              <a:solidFill>
                <a:srgbClr val="545454"/>
              </a:solidFill>
              <a:effectLst/>
              <a:uLnTx/>
              <a:uFillTx/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2147470-77E3-45AC-9932-3F025F9FC8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57167" y="591815"/>
            <a:ext cx="15342934" cy="930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742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088011" y="485326"/>
            <a:ext cx="10111975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3F3D3E"/>
                </a:solidFill>
                <a:effectLst/>
                <a:uLnTx/>
                <a:uFillTx/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Разр</a:t>
            </a:r>
            <a:r>
              <a:rPr lang="ru-RU" sz="4000" b="1" dirty="0" err="1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аботанные</a:t>
            </a:r>
            <a:r>
              <a:rPr lang="ru-RU" sz="4000" b="1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 меню и</a:t>
            </a: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3F3D3E"/>
                </a:solidFill>
                <a:effectLst/>
                <a:uLnTx/>
                <a:uFillTx/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 интерфейсы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3F3D3E"/>
              </a:solidFill>
              <a:effectLst/>
              <a:uLnTx/>
              <a:uFillTx/>
              <a:latin typeface="Times New Roman" panose="02020603050405020304" pitchFamily="18" charset="0"/>
              <a:ea typeface="Alexandria Bold"/>
              <a:cs typeface="Times New Roman" panose="02020603050405020304" pitchFamily="18" charset="0"/>
              <a:sym typeface="Alexandria Bold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641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743" b="1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1</a:t>
            </a:r>
            <a:r>
              <a:rPr kumimoji="0" lang="en-US" sz="4743" b="1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1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DFEDADB-8AE4-46FB-9AFC-CE55C01EC8FA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9314" y="1450564"/>
            <a:ext cx="7766213" cy="779132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B875321-DC19-44BC-9C4B-643E12AB5A83}"/>
              </a:ext>
            </a:extLst>
          </p:cNvPr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9314" y="1383662"/>
            <a:ext cx="7766212" cy="785822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DFE1B40-4DDD-4DEF-A6A9-3B0752C2C5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5765" y="1482175"/>
            <a:ext cx="16176468" cy="766120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177811A-6FB5-48E5-A956-97B98B8E803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765" y="1466514"/>
            <a:ext cx="16303267" cy="7735127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68FBE00-55C7-4B37-85D2-51E775737A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10615" y="1225140"/>
            <a:ext cx="8793565" cy="8175267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DB0CD82-7BBC-4E32-9C75-BB846BB6039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9165" y="1499397"/>
            <a:ext cx="16239868" cy="740076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44E7F9-0D2A-49DF-8C33-C1BB8E378FF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7889" y="2393294"/>
            <a:ext cx="17012218" cy="5351709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C70B8EC6-8EB8-4376-B075-BA4533E6730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2364" y="1403404"/>
            <a:ext cx="16303267" cy="7780522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16E28DE2-3306-49D8-A3FB-0E1AB49CDB6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6335" y="1417220"/>
            <a:ext cx="16428706" cy="77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301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3486227"/>
            <a:ext cx="18288000" cy="3108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8"/>
              </a:lnSpc>
            </a:pPr>
            <a:r>
              <a:rPr lang="ru-RU" sz="9006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Демонстрация работы программы</a:t>
            </a:r>
            <a:endParaRPr lang="en-US" sz="9006" b="1" dirty="0">
              <a:solidFill>
                <a:srgbClr val="3F3D3E"/>
              </a:solidFill>
              <a:latin typeface="Alexandria Bold"/>
              <a:ea typeface="Alexandria Bold"/>
              <a:cs typeface="Alexandria Bold"/>
              <a:sym typeface="Alexandria Bold"/>
            </a:endParaRP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</TotalTime>
  <Words>355</Words>
  <Application>Microsoft Office PowerPoint</Application>
  <PresentationFormat>Произвольный</PresentationFormat>
  <Paragraphs>118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Calibri</vt:lpstr>
      <vt:lpstr>Arial</vt:lpstr>
      <vt:lpstr>Times New Roman</vt:lpstr>
      <vt:lpstr>Alexandria Bold</vt:lpstr>
      <vt:lpstr>Garet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lab_5_alg_graph</dc:title>
  <cp:lastModifiedBy>mac-win</cp:lastModifiedBy>
  <cp:revision>51</cp:revision>
  <dcterms:created xsi:type="dcterms:W3CDTF">2006-08-16T00:00:00Z</dcterms:created>
  <dcterms:modified xsi:type="dcterms:W3CDTF">2026-05-31T14:56:33Z</dcterms:modified>
  <dc:identifier>DAG-YwJhdwE</dc:identifier>
</cp:coreProperties>
</file>