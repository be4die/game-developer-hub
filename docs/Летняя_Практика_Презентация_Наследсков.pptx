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9.svg" ContentType="image/svg"/>
  <Override PartName="/ppt/media/image21.svg" ContentType="image/svg"/>
  <Override PartName="/ppt/media/image17.svg" ContentType="image/svg"/>
  <Override PartName="/ppt/media/image4.svg" ContentType="image/svg"/>
  <Override PartName="/ppt/media/image23.svg" ContentType="image/svg"/>
  <Override PartName="/ppt/media/image27.svg" ContentType="image/svg"/>
  <Override PartName="/ppt/media/image2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пер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еме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щен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ия 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стра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ниц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ы 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кни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 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шь</a:t>
            </a: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ю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22C8420-81A1-49F9-B9F9-983878DCEFF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B347B5-8C55-4E07-BEE0-B2CEF83674F3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204480"/>
            <a:ext cx="105138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E46E2-A300-4E81-AF02-F2E72EED7E0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204480"/>
            <a:ext cx="1051380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BCAE2C-9BFA-4AA2-BDE5-D8F9A0B804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40920"/>
            <a:ext cx="10513800" cy="13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05B3C5-4B60-458E-866D-EE4A9BDDC4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40920"/>
            <a:ext cx="10513800" cy="13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A2E2541-9D9B-4CED-9E00-00DB2D393F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42336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правки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текста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заглавия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щёлкните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02D0F1-C168-4708-990C-140210CE2D8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42336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0B6574-AC7F-436B-A729-BBF65DDAF00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42336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правки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текста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заглавия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щёлкните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E8FEFF-C327-404F-B479-D40C06A997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42336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правки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текста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заглавия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щёлкните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3C8B7D-F00A-4571-A7CB-628D17B357C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42336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правки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текста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заглавия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щёлкните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7CC404-A984-42C5-B968-9EA239C2EE5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423000"/>
            <a:ext cx="1051380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правк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и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текста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заглав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ия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щёлкн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ите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мышь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CF965E-0FAC-4038-BCD9-4380F82851D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40920"/>
            <a:ext cx="105138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AD5377-A9ED-4008-9DDB-2954F5BC10A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Прямоугольник 9"/>
          <p:cNvSpPr/>
          <p:nvPr/>
        </p:nvSpPr>
        <p:spPr>
          <a:xfrm>
            <a:off x="4639320" y="1958040"/>
            <a:ext cx="6094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Кафедра </a:t>
            </a:r>
            <a:r>
              <a:rPr lang="ru-RU" sz="14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Автоматизированные </a:t>
            </a:r>
            <a:r>
              <a:rPr lang="ru-RU" sz="14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системы обработки информации и </a:t>
            </a:r>
            <a:r>
              <a:rPr lang="ru-RU" sz="14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управления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Прямоугольник 10"/>
          <p:cNvSpPr/>
          <p:nvPr/>
        </p:nvSpPr>
        <p:spPr>
          <a:xfrm>
            <a:off x="1241640" y="2709360"/>
            <a:ext cx="9254520" cy="14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ОТЧЕТ ПО </a:t>
            </a: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ПРАКТИКЕ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по теме:</a:t>
            </a:r>
            <a:br>
              <a:rPr sz="1600"/>
            </a:b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«Автоматизированна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я система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управления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процессом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публикации и 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сопровождения веб-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игр»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Прямоугольник 11"/>
          <p:cNvSpPr/>
          <p:nvPr/>
        </p:nvSpPr>
        <p:spPr>
          <a:xfrm>
            <a:off x="6400800" y="4399200"/>
            <a:ext cx="489096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Выполнил: обучающийся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гр. ДИПРБ 31 Наследсков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Михаил Викторович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Руководитель практики: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к.т.н., доцент Евсина Елена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Михайловна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Прямоугольник 1"/>
          <p:cNvSpPr/>
          <p:nvPr/>
        </p:nvSpPr>
        <p:spPr>
          <a:xfrm>
            <a:off x="4920120" y="6228000"/>
            <a:ext cx="132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Астрахань 2026 г.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Рисунок 1"/>
          <p:cNvPicPr/>
          <p:nvPr/>
        </p:nvPicPr>
        <p:blipFill>
          <a:blip r:embed="rId1"/>
          <a:stretch/>
        </p:blipFill>
        <p:spPr>
          <a:xfrm>
            <a:off x="886320" y="297360"/>
            <a:ext cx="1311840" cy="131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Прямоугольник 4"/>
          <p:cNvSpPr/>
          <p:nvPr/>
        </p:nvSpPr>
        <p:spPr>
          <a:xfrm>
            <a:off x="2363760" y="297360"/>
            <a:ext cx="938376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Федеральное агентство по рыболовству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Федеральное государственное бюджетное образовательное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учреждение высшего образования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«Астраханский государственный технический университет»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Система менеджмента качества в области образования, воспитания, науки и инноваций сертифицирована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1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ООО «ДКС РУС» по ISO 9001 / ГОСТ Р ИСО 9001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6"/>
          <p:cNvSpPr/>
          <p:nvPr/>
        </p:nvSpPr>
        <p:spPr>
          <a:xfrm>
            <a:off x="2373840" y="159840"/>
            <a:ext cx="801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АНАЛИЗ ПРЕДМЕТНОЙ ОБЛАСТИ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sldNum" idx="31"/>
          </p:nvPr>
        </p:nvSpPr>
        <p:spPr>
          <a:xfrm>
            <a:off x="9231840" y="63799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CA5C32-487A-422D-BF66-9FC23FC8F99C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720000" y="900000"/>
            <a:ext cx="10336680" cy="302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58000" y="1080000"/>
            <a:ext cx="5200560" cy="89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Прямоугольник 2"/>
          <p:cNvSpPr/>
          <p:nvPr/>
        </p:nvSpPr>
        <p:spPr>
          <a:xfrm>
            <a:off x="4500000" y="4046760"/>
            <a:ext cx="3560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1 - Организационная структура ИП Теплов С.Д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00000" y="4500000"/>
            <a:ext cx="34185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Объект исследования: Процессы игровой платформы Welwise Games (запущена в 2025 году).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Глобальная миссия: Предоставление независимым разработчикам экосистемы для создания веб-игр и метавселенных.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220000" y="4440600"/>
            <a:ext cx="6838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Основные направления деятельности: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Разработка и издание компьютерного программного обеспечения.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Инфраструктурная поддержка и дистрибуция игровых проектов.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Оперирование платформой и рекламная монетизация.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Бизнес-модель: Разделение доходов с авторами за счет показа рекламы и внутриигровых микротранзакций.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5"/>
          <p:cNvSpPr/>
          <p:nvPr/>
        </p:nvSpPr>
        <p:spPr>
          <a:xfrm>
            <a:off x="2373840" y="159840"/>
            <a:ext cx="801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АНАЛИЗ ПРЕДМЕТНОЙ ОБЛАСТИ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Num" idx="32"/>
          </p:nvPr>
        </p:nvSpPr>
        <p:spPr>
          <a:xfrm>
            <a:off x="9231840" y="63799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0C3243-8BFF-4D27-A6B1-3451D7C65E97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20360" y="1244160"/>
            <a:ext cx="109785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Веб-игра - приложение, которое работает прямо в браузере игрока без скачивания и установки. На сайте платформы игра безопасно подставляется внутрь специального изолированного окна — iframe.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6195600" y="2787480"/>
            <a:ext cx="5323320" cy="305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/>
          <p:cNvPicPr/>
          <p:nvPr/>
        </p:nvPicPr>
        <p:blipFill>
          <a:blip r:embed="rId2"/>
          <a:stretch/>
        </p:blipFill>
        <p:spPr>
          <a:xfrm>
            <a:off x="657720" y="2787480"/>
            <a:ext cx="4381200" cy="33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рямоугольник 7"/>
          <p:cNvSpPr/>
          <p:nvPr/>
        </p:nvSpPr>
        <p:spPr>
          <a:xfrm>
            <a:off x="1325160" y="6207480"/>
            <a:ext cx="3593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2 - Пример структуры сборки клиента веб-игры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Прямоугольник 8"/>
          <p:cNvSpPr/>
          <p:nvPr/>
        </p:nvSpPr>
        <p:spPr>
          <a:xfrm>
            <a:off x="7488000" y="6027480"/>
            <a:ext cx="3572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3 - Пример структуры сборки сервера веб-игры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/>
          <p:nvPr/>
        </p:nvSpPr>
        <p:spPr>
          <a:xfrm>
            <a:off x="756000" y="96480"/>
            <a:ext cx="105656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МОДЕЛЬ ПРОЦЕССА «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AS IS</a:t>
            </a: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»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33"/>
          </p:nvPr>
        </p:nvSpPr>
        <p:spPr>
          <a:xfrm>
            <a:off x="9273600" y="64717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BD681F-6E35-479A-B356-40474179E7B8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9763920" y="2322360"/>
            <a:ext cx="1575000" cy="199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7740000" y="2168640"/>
            <a:ext cx="1391040" cy="21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3"/>
          <a:stretch/>
        </p:blipFill>
        <p:spPr>
          <a:xfrm>
            <a:off x="5400000" y="2205720"/>
            <a:ext cx="1626840" cy="229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4"/>
          <a:stretch/>
        </p:blipFill>
        <p:spPr>
          <a:xfrm>
            <a:off x="2880000" y="2157840"/>
            <a:ext cx="1972800" cy="234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"/>
          <p:cNvPicPr/>
          <p:nvPr/>
        </p:nvPicPr>
        <p:blipFill>
          <a:blip r:embed="rId5"/>
          <a:stretch/>
        </p:blipFill>
        <p:spPr>
          <a:xfrm>
            <a:off x="198720" y="2160000"/>
            <a:ext cx="1960200" cy="233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180000" y="1412640"/>
            <a:ext cx="1978920" cy="8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Настройка процессов интеграции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873880" y="1272600"/>
            <a:ext cx="1978920" cy="8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Предварительная проверка в тестовой среде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00000" y="1412640"/>
            <a:ext cx="16189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Модерация игры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454160" y="1103040"/>
            <a:ext cx="1904760" cy="11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Загрузка игры в продуктовую среду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878760" y="1203480"/>
            <a:ext cx="18201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Аналитическая отчетность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16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68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02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13212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260000" y="4680000"/>
            <a:ext cx="360" cy="540000"/>
          </a:xfrm>
          <a:prstGeom prst="line">
            <a:avLst/>
          </a:prstGeom>
          <a:ln w="108000">
            <a:solidFill>
              <a:srgbClr val="0045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99000" rIns="0" bIns="99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380000" y="5259960"/>
            <a:ext cx="197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 требует ручной работы DevOps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960000" y="5220000"/>
            <a:ext cx="2518920" cy="8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Процессы требуют связи разработчика, менеджера и модератор через сторонний мессенджер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320000" y="4500000"/>
            <a:ext cx="720000" cy="720000"/>
          </a:xfrm>
          <a:prstGeom prst="line">
            <a:avLst/>
          </a:prstGeom>
          <a:ln w="108000">
            <a:solidFill>
              <a:srgbClr val="0045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99000" rIns="144000" bIns="99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 flipH="1">
            <a:off x="5580000" y="4500000"/>
            <a:ext cx="540000" cy="720000"/>
          </a:xfrm>
          <a:prstGeom prst="line">
            <a:avLst/>
          </a:prstGeom>
          <a:ln w="108000">
            <a:solidFill>
              <a:srgbClr val="0045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99000" rIns="144000" bIns="99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0800000" y="4500000"/>
            <a:ext cx="360" cy="540000"/>
          </a:xfrm>
          <a:prstGeom prst="line">
            <a:avLst/>
          </a:prstGeom>
          <a:ln w="108000">
            <a:solidFill>
              <a:srgbClr val="0045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99000" rIns="0" bIns="99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720000" y="5220000"/>
            <a:ext cx="197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Требуется отдельнная программа для ормирования отчетов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80000" y="5260320"/>
            <a:ext cx="197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 требует DevOps инджинера в шатете сотрудников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460000" y="4500000"/>
            <a:ext cx="360" cy="540000"/>
          </a:xfrm>
          <a:prstGeom prst="line">
            <a:avLst/>
          </a:prstGeom>
          <a:ln w="108000">
            <a:solidFill>
              <a:srgbClr val="00458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99000" rIns="0" bIns="99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620000" y="2238840"/>
            <a:ext cx="197892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От 2-х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До 3-х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дней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300000" y="2205720"/>
            <a:ext cx="197892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От 4-х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До 6-ти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дней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132120" y="2147400"/>
            <a:ext cx="16189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Задержка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FF0000"/>
                </a:solidFill>
                <a:effectLst/>
                <a:uFillTx/>
                <a:latin typeface="Times New Roman"/>
                <a:ea typeface="DejaVu Sans"/>
              </a:rPr>
              <a:t>До 10 дней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0080" y="172440"/>
            <a:ext cx="10535400" cy="7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СРАВНИТЕЛЬНАЯ ТАБЛИЦА АНАЛОГОВ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06" name="Таблица 5"/>
          <p:cNvGraphicFramePr/>
          <p:nvPr/>
        </p:nvGraphicFramePr>
        <p:xfrm rot="10800000">
          <a:off x="-10722960" y="-5039640"/>
          <a:ext cx="11339640" cy="5790240"/>
        </p:xfrm>
        <a:graphic>
          <a:graphicData uri="http://schemas.openxmlformats.org/drawingml/2006/table">
            <a:tbl>
              <a:tblPr/>
              <a:tblGrid>
                <a:gridCol w="2953800"/>
                <a:gridCol w="2012040"/>
                <a:gridCol w="1423080"/>
                <a:gridCol w="1874160"/>
                <a:gridCol w="1383840"/>
                <a:gridCol w="1693080"/>
              </a:tblGrid>
              <a:tr h="-2752920">
                <a:tc>
                  <a:txBody>
                    <a:bodyPr tIns="75960" rIns="121680" bIns="759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2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Критерий</a:t>
                      </a:r>
                      <a:endParaRPr lang="ru-RU" sz="2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Game Distribution</a:t>
                      </a:r>
                      <a:endParaRPr lang="ru-RU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Crazy Games</a:t>
                      </a:r>
                      <a:endParaRPr lang="ru-RU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Poki for Devs</a:t>
                      </a:r>
                      <a:endParaRPr lang="ru-RU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itch.io</a:t>
                      </a:r>
                      <a:endParaRPr lang="ru-RU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Cloud Arcade</a:t>
                      </a:r>
                      <a:endParaRPr lang="ru-RU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7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Noto Sans CJK SC"/>
                        </a:rPr>
                        <a:t>Самостоятельная публикация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Многоэтапная модерация проектов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Встроенный сквозной чат с модератором 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Сбор показателей монетезации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Отслеживание игровых метрик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Управление игровыми серверами 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7560">
                <a:tc>
                  <a:txBody>
                    <a:bodyPr tIns="75960" rIns="12168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Развертывание на собственной инфраструктуре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rIns="121680" bIns="759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+/-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12168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21680" tIns="75960" b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36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+</a:t>
                      </a:r>
                      <a:endParaRPr lang="ru-RU" sz="3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1680" marR="91440" marT="75960" marB="759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7" name="PlaceHolder 2"/>
          <p:cNvSpPr>
            <a:spLocks noGrp="1"/>
          </p:cNvSpPr>
          <p:nvPr>
            <p:ph type="sldNum" idx="34"/>
          </p:nvPr>
        </p:nvSpPr>
        <p:spPr>
          <a:xfrm>
            <a:off x="9300600" y="64339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73684E-85E5-4086-B41C-F4132AA30D94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73120" y="3060000"/>
            <a:ext cx="11338560" cy="718920"/>
          </a:xfrm>
          <a:prstGeom prst="rect">
            <a:avLst/>
          </a:prstGeom>
          <a:noFill/>
          <a:ln w="72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tIns="81000" rIns="126000" bIns="81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73120" y="5220000"/>
            <a:ext cx="11338560" cy="718920"/>
          </a:xfrm>
          <a:prstGeom prst="rect">
            <a:avLst/>
          </a:prstGeom>
          <a:noFill/>
          <a:ln w="72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tIns="81000" rIns="126000" bIns="81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16488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ЦЕЛЬ И ЗАДАЧИ ПРАКТИКИ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E1344E-63A7-4141-8B4E-D3FF44C4C428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40000" y="1273320"/>
            <a:ext cx="11158920" cy="15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</a:pPr>
            <a:r>
              <a:rPr lang="ru-RU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Цель практики — изучение современных автоматизированных систем публикации и сопровождения веб-игр и анализ возможности создания веб-платформы для автоматизации процессов публикации веб-игр с возвожность управления игровыми серверами онлайн игр.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40000" y="2886120"/>
            <a:ext cx="11158920" cy="41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Для достижения поставленной цели необходимо решить следующие задачи: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 Провести анализ предметной области «Автоматизированная система управления процессом публикации и сопровождения веб-игр»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 Исследовать существующие бизнес-процессы и организационную структуру платформы Welwise Games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 Провести сравнительный анализ аналогов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 Подготовить проектную документацию.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9320" y="161640"/>
            <a:ext cx="11454120" cy="103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МОДЕЛЬ ПРОЦЕССА «</a:t>
            </a: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TO BE</a:t>
            </a:r>
            <a:r>
              <a:rPr lang="ru-RU" sz="4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»</a:t>
            </a:r>
            <a:endParaRPr lang="ru-RU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36"/>
          </p:nvPr>
        </p:nvSpPr>
        <p:spPr>
          <a:xfrm>
            <a:off x="9142200" y="63666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C00C6F-1679-42B9-B412-AD03C5E5F1FD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9720000" y="2160000"/>
            <a:ext cx="2320560" cy="25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6862680" y="1980000"/>
            <a:ext cx="2136240" cy="269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/>
          <p:cNvPicPr/>
          <p:nvPr/>
        </p:nvPicPr>
        <p:blipFill>
          <a:blip r:embed="rId3"/>
          <a:stretch/>
        </p:blipFill>
        <p:spPr>
          <a:xfrm>
            <a:off x="3420000" y="2148120"/>
            <a:ext cx="2519280" cy="253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/>
          <p:cNvPicPr/>
          <p:nvPr/>
        </p:nvPicPr>
        <p:blipFill>
          <a:blip r:embed="rId4"/>
          <a:stretch/>
        </p:blipFill>
        <p:spPr>
          <a:xfrm>
            <a:off x="360000" y="2340000"/>
            <a:ext cx="2716920" cy="215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/>
          <p:nvPr/>
        </p:nvSpPr>
        <p:spPr>
          <a:xfrm>
            <a:off x="540000" y="1260000"/>
            <a:ext cx="197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Подготовка тестовой среды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780000" y="1440000"/>
            <a:ext cx="197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Модерация игры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660000" y="1299960"/>
            <a:ext cx="269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Управление продуктовой средой игровых серверов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900000" y="1260000"/>
            <a:ext cx="19789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Аналитика в реальном времени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06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94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9000000" y="3420000"/>
            <a:ext cx="720000" cy="36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-99000" rIns="144000" bIns="-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160000" y="2238840"/>
            <a:ext cx="197892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От 2-х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До 3-х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часов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400000" y="2160000"/>
            <a:ext cx="1978920" cy="23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От 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До 2-х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дней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9000000" y="1940040"/>
            <a:ext cx="17989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800" b="1" u="none" strike="noStrike">
                <a:solidFill>
                  <a:srgbClr val="579D1C"/>
                </a:solidFill>
                <a:effectLst/>
                <a:uFillTx/>
                <a:latin typeface="Times New Roman"/>
                <a:ea typeface="DejaVu Sans"/>
              </a:rPr>
              <a:t>В реальном времени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60000" y="5400000"/>
            <a:ext cx="11698920" cy="11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 публикации и сопровождения веб игры не требует от разработчиков или сотрудников платформы использования стороннего ПО, все действия происходят в рамках одной системв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2160000" y="4606920"/>
            <a:ext cx="1620000" cy="79308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99000" rIns="144000" bIns="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040000" y="4680000"/>
            <a:ext cx="360" cy="72000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99000" rIns="0" bIns="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920000" y="4680000"/>
            <a:ext cx="360" cy="72000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99000" rIns="0" bIns="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 flipH="1">
            <a:off x="9900000" y="4680000"/>
            <a:ext cx="900000" cy="720000"/>
          </a:xfrm>
          <a:prstGeom prst="line">
            <a:avLst/>
          </a:prstGeom>
          <a:ln w="10800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44000" tIns="99000" rIns="144000" bIns="99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9320" y="126360"/>
            <a:ext cx="11221560" cy="108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ДИАГРАММА ВАРИАНТОВ ИСПОЛЬЗОВАНИЯ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37"/>
          </p:nvPr>
        </p:nvSpPr>
        <p:spPr>
          <a:xfrm>
            <a:off x="9249120" y="63648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E23F23-01DB-4618-B54B-CD4FF368F867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9880" y="1819800"/>
            <a:ext cx="4199040" cy="33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Прямоугольник 12"/>
          <p:cNvSpPr/>
          <p:nvPr/>
        </p:nvSpPr>
        <p:spPr>
          <a:xfrm>
            <a:off x="180000" y="5580000"/>
            <a:ext cx="500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4 - Варианты использования подсистемы управления пользователями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Прямоугольник 13"/>
          <p:cNvSpPr/>
          <p:nvPr/>
        </p:nvSpPr>
        <p:spPr>
          <a:xfrm>
            <a:off x="6840000" y="5667480"/>
            <a:ext cx="470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5 - Варианты использования подсистемы управления проектами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50160" y="1211040"/>
            <a:ext cx="4028760" cy="431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19320" y="126360"/>
            <a:ext cx="11221560" cy="108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ДИАГРАММА ВАРИАНТОВ ИСПОЛЬЗОВАНИЯ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38"/>
          </p:nvPr>
        </p:nvSpPr>
        <p:spPr>
          <a:xfrm>
            <a:off x="9249120" y="63648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280B7C-E780-4F47-A9BD-B78B604028D3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3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00000" y="1440000"/>
            <a:ext cx="4199040" cy="339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Прямоугольник 14"/>
          <p:cNvSpPr/>
          <p:nvPr/>
        </p:nvSpPr>
        <p:spPr>
          <a:xfrm>
            <a:off x="720000" y="5667480"/>
            <a:ext cx="500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6 - Варианты использования подсистемы управления пользователями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Прямоугольник 15"/>
          <p:cNvSpPr/>
          <p:nvPr/>
        </p:nvSpPr>
        <p:spPr>
          <a:xfrm>
            <a:off x="6840000" y="5667480"/>
            <a:ext cx="4704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7 - Варианты использования подсистемы управления проектами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077600" y="1167480"/>
            <a:ext cx="4261320" cy="449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19320" y="126360"/>
            <a:ext cx="11221560" cy="108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ДИАГРАММА ВАРИАНТОВ ИСПОЛЬЗОВАНИЯ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Num" idx="39"/>
          </p:nvPr>
        </p:nvSpPr>
        <p:spPr>
          <a:xfrm>
            <a:off x="9249120" y="63648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8B577B-0FD3-444E-99E8-C126C06EF829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Прямоугольник 16"/>
          <p:cNvSpPr/>
          <p:nvPr/>
        </p:nvSpPr>
        <p:spPr>
          <a:xfrm>
            <a:off x="663120" y="5040000"/>
            <a:ext cx="3892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8 - Варианты использования подсистемы модерации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Прямоугольник 17"/>
          <p:cNvSpPr/>
          <p:nvPr/>
        </p:nvSpPr>
        <p:spPr>
          <a:xfrm>
            <a:off x="6840000" y="5667480"/>
            <a:ext cx="5375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Рис. 9 - Варианты использования подсистемы управления игровыми серверами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19320" y="1787760"/>
            <a:ext cx="5979600" cy="30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00000" y="1080000"/>
            <a:ext cx="4138920" cy="451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19320" y="126360"/>
            <a:ext cx="11221560" cy="108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ИНФОЛОГИЧЕСКАЯ МОДЕЛЬ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40"/>
          </p:nvPr>
        </p:nvSpPr>
        <p:spPr>
          <a:xfrm>
            <a:off x="9249120" y="63648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36D317-E9B3-4384-8BE0-3F02B3890C51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0000" y="1080000"/>
            <a:ext cx="12190680" cy="535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19320" y="126360"/>
            <a:ext cx="11221560" cy="108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ЗАКЛЮЧЕНИЕ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41"/>
          </p:nvPr>
        </p:nvSpPr>
        <p:spPr>
          <a:xfrm>
            <a:off x="9249120" y="636480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F2DE9F-D1AD-4D9A-9C21-9E72523CBED9}" type="slidenum">
              <a:rPr lang="ru-RU" sz="1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07320" y="1407960"/>
            <a:ext cx="11158920" cy="36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В рамках практики проведён анализ предметной области, выявлены ключевые проблемы ручного подхода и сформулированы требования к системе. Разработанный технический проект предусматривает создание платформы для автоматического развёртывания сборок, инструментов самостоятельной оркестрации серверов и встроенного модуля модерации, что позволит перейти к модели самообслуживания разработчиков и существенно сократить время публикации веб-игр.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2965</TotalTime>
  <Application>LibreOffice/26.2.4.2$Linux_X86_64 LibreOffice_project/df4f15f06f7b375c1d16aa35fba92d50b262cd01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2025-11-04T14:19:45Z</dcterms:created>
  <dc:creator>Максим Коломыцев</dc:creator>
  <dc:description/>
  <dc:language>ru-RU</dc:language>
  <cp:lastModifiedBy/>
  <cp:lastPrinted>2026-07-15T23:58:26Z</cp:lastPrinted>
  <dcterms:modified xsi:type="dcterms:W3CDTF">2026-07-15T23:58:09Z</dcterms:modified>
  <cp:revision>178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Широкоэкранный</vt:lpwstr>
  </property>
  <property fmtid="{D5CDD505-2E9C-101B-9397-08002B2CF9AE}" pid="4" name="Slides">
    <vt:r8>7</vt:r8>
  </property>
</Properties>
</file>