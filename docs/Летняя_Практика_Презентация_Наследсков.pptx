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8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svg" ContentType="image/svg"/>
  <Override PartName="/ppt/media/image7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8" r:id="rId7"/>
    <p:sldMasterId id="2147483659" r:id="rId8"/>
    <p:sldMasterId id="2147483660" r:id="rId9"/>
    <p:sldMasterId id="2147483661" r:id="rId10"/>
    <p:sldMasterId id="2147483662" r:id="rId11"/>
    <p:sldMasterId id="2147483663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Для перемещения страницы щёлкните мышью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EF40399-8B53-4B0C-AED1-247682B4DA20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07253F-AD69-4457-BE4C-9B2A68D940BB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41640"/>
            <a:ext cx="10515240" cy="1371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C98792-2D78-4BE3-9BDD-95D32FE81D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41640"/>
            <a:ext cx="10515240" cy="1371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FC4533A-D415-49E4-884F-BCE19A6FD0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41640"/>
            <a:ext cx="10515240" cy="1371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D6428FD-8CFB-4F05-B78C-C572F3D093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8080" y="341640"/>
            <a:ext cx="10515240" cy="1371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77BC584-C9FD-45D1-87FA-8844323D4A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41640"/>
            <a:ext cx="10515240" cy="1371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0087336-49AA-4101-9CBE-F3D1D32A1E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02BB26-5E0B-47B7-96D6-8372F71991CD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F03ABD-5C9D-4B5B-895E-FA5D411B1587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9C50BD-4E83-43DF-B4BD-14055E6E8946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9F79F0-ABD9-4BAC-B2F6-EF8B7123BA4D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75323D-3E49-457E-A097-6401D03D7F52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58790A-5E3E-4716-86B4-387E1796AD9E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B75558-F3BA-46E1-AC4E-7AA18DDE4CA2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551A1-2584-4FA5-932F-596E89A81819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0F8605-89A6-48A9-99EC-7AD582603F61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EC97ED-5AB5-4D76-A5C6-A28246075687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16BCAB-044B-4270-AC89-777A5440143A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 9"/>
          <p:cNvSpPr/>
          <p:nvPr/>
        </p:nvSpPr>
        <p:spPr>
          <a:xfrm>
            <a:off x="4639320" y="1958040"/>
            <a:ext cx="60955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Calibri"/>
              </a:rPr>
              <a:t>Кафедра </a:t>
            </a:r>
            <a:r>
              <a:rPr lang="ru-RU" sz="14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Calibri"/>
              </a:rPr>
              <a:t>Автоматизированные системы обработки информации и управления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Прямоугольник 10"/>
          <p:cNvSpPr/>
          <p:nvPr/>
        </p:nvSpPr>
        <p:spPr>
          <a:xfrm>
            <a:off x="1260360" y="2961720"/>
            <a:ext cx="9255960" cy="10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ОТЧЕТ ПО ПРАКТИКЕ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по теме:</a:t>
            </a:r>
            <a:br>
              <a:rPr sz="1600"/>
            </a:b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«Платформа для публикации и управления веб-играми»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Прямоугольник 11"/>
          <p:cNvSpPr/>
          <p:nvPr/>
        </p:nvSpPr>
        <p:spPr>
          <a:xfrm>
            <a:off x="6400800" y="4399200"/>
            <a:ext cx="4892400" cy="13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Выполнил: обучающийся гр. ДИПРБ 31 Наследсков Михаил Викторович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Руководитель практики: к.т.н., доцент Евсина Елена Михайловна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Прямоугольник 1"/>
          <p:cNvSpPr/>
          <p:nvPr/>
        </p:nvSpPr>
        <p:spPr>
          <a:xfrm>
            <a:off x="4920120" y="6228000"/>
            <a:ext cx="1324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Астрахань 2026 г.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Рисунок 1"/>
          <p:cNvPicPr/>
          <p:nvPr/>
        </p:nvPicPr>
        <p:blipFill>
          <a:blip r:embed="rId1"/>
          <a:stretch/>
        </p:blipFill>
        <p:spPr>
          <a:xfrm>
            <a:off x="886320" y="297360"/>
            <a:ext cx="1313280" cy="13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Прямоугольник 4"/>
          <p:cNvSpPr/>
          <p:nvPr/>
        </p:nvSpPr>
        <p:spPr>
          <a:xfrm>
            <a:off x="2363760" y="297360"/>
            <a:ext cx="9385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Федеральное агентство по рыболовству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Федеральное государственное бюджетное образовательное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учреждение высшего образования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«Астраханский государственный технический университет»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1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Система менеджмента качества в области образования, воспитания, науки и инноваций сертифицирована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1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ООО «ДКС РУС» по ISO 9001 / ГОСТ Р ИСО 9001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Прямоугольник 6"/>
          <p:cNvSpPr/>
          <p:nvPr/>
        </p:nvSpPr>
        <p:spPr>
          <a:xfrm>
            <a:off x="2373840" y="159840"/>
            <a:ext cx="8011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АНАЛИЗ ПРЕДМЕТНОЙ ОБЛАСТИ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37"/>
          </p:nvPr>
        </p:nvSpPr>
        <p:spPr>
          <a:xfrm>
            <a:off x="9231840" y="63799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F4898C-7ABA-438D-A8AE-CAD4BCB6F1B4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720000" y="900000"/>
            <a:ext cx="10338120" cy="302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58000" y="1080000"/>
            <a:ext cx="5202000" cy="9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Прямоугольник 2"/>
          <p:cNvSpPr/>
          <p:nvPr/>
        </p:nvSpPr>
        <p:spPr>
          <a:xfrm>
            <a:off x="4500000" y="4046760"/>
            <a:ext cx="3472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Рис 1. Организационная структура ИП Теплов С.Д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900000" y="4500000"/>
            <a:ext cx="3420000" cy="146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Объект исследования: Процессы игровой платформы Welwise Games (запущена в 2025 году).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Глобальная миссия: Предоставление независимым разработчикам экосистемы для создания веб-игр и метавселенных.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220000" y="4440600"/>
            <a:ext cx="6840000" cy="185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Основные направления деятельности: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Разработка и издание компьютерного программного обеспечения.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Инфраструктурная поддержка и дистрибуция игровых проектов.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Оперирование платформой и рекламная монетизация.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Бизнес-модель: Разделение доходов (Revenue Share) с авторами за счет показа рекламы и внутриигровых микротранзакций.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Прямоугольник 5"/>
          <p:cNvSpPr/>
          <p:nvPr/>
        </p:nvSpPr>
        <p:spPr>
          <a:xfrm>
            <a:off x="2373840" y="159840"/>
            <a:ext cx="8011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АНАЛИЗ ПРЕДМЕТНОЙ ОБЛАСТИ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sldNum" idx="38"/>
          </p:nvPr>
        </p:nvSpPr>
        <p:spPr>
          <a:xfrm>
            <a:off x="9231840" y="63799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9F3E7D-74FF-4F1C-AFEC-E49619B47259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20000" y="1086840"/>
            <a:ext cx="10980000" cy="1073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Что такое веб-игра на платформе?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- Приложение, которое работает прямо в браузере игрока без скачивания и установки. На сайте платформы игра безопасно подставляется внутрь специального изолированного окна — iframe.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3264840" y="2880000"/>
            <a:ext cx="5555160" cy="303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 txBox="1"/>
          <p:nvPr/>
        </p:nvSpPr>
        <p:spPr>
          <a:xfrm>
            <a:off x="360000" y="2880000"/>
            <a:ext cx="3060000" cy="2842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Из чего состоит клиентская сборка (Билд)? * Это обычный ZIP-архив с файлами, который отвечает за визуальную часть и интерфейс: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   index.html — главная страница (точка входа).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   JavaScript (js) и WebAssembly (wasm) — игровая логика и движок.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   CSS и медиафайлы — стили, графика и звуки.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40000" y="2880000"/>
            <a:ext cx="3240000" cy="2449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Для чего нужен игровой сервер?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   Одиночные веб-игры работают только в браузере пользователя.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   Для онлайн-проектов (мультиплеера) разработчик предоставляет отдельную серверную программу. Платформа запускает ее в изолированной среде, чтобы она непрерывно синхронизировала действия всех игроков.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Заголовок 1"/>
          <p:cNvSpPr/>
          <p:nvPr/>
        </p:nvSpPr>
        <p:spPr>
          <a:xfrm>
            <a:off x="756000" y="96480"/>
            <a:ext cx="1056708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90000"/>
              </a:lnSpc>
            </a:pP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МОДЕЛЬ ПРОЦЕССА «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AS IS</a:t>
            </a: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»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sldNum" idx="39"/>
          </p:nvPr>
        </p:nvSpPr>
        <p:spPr>
          <a:xfrm>
            <a:off x="9273600" y="6471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2AC120-9AFC-4B81-93A7-B1DDC0718108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1260000"/>
            <a:ext cx="11831760" cy="429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3600000" y="1800000"/>
            <a:ext cx="360000" cy="900000"/>
          </a:xfrm>
          <a:prstGeom prst="rect">
            <a:avLst/>
          </a:prstGeom>
          <a:noFill/>
          <a:ln w="36000">
            <a:solidFill>
              <a:srgbClr val="FF0000"/>
            </a:solidFill>
            <a:prstDash val="sysDash"/>
            <a:round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700000" y="2880000"/>
            <a:ext cx="19998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ru-RU" sz="120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Занимает около - 3х дней</a:t>
            </a:r>
            <a:endParaRPr lang="ru-RU" sz="12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5400000" y="2880000"/>
            <a:ext cx="3240000" cy="1440000"/>
          </a:xfrm>
          <a:prstGeom prst="rect">
            <a:avLst/>
          </a:prstGeom>
          <a:noFill/>
          <a:ln w="36000">
            <a:solidFill>
              <a:srgbClr val="FF0000"/>
            </a:solidFill>
            <a:prstDash val="sysDash"/>
            <a:round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660000" y="2160000"/>
            <a:ext cx="234972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ru-RU" sz="120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Занимает около - 5 дней</a:t>
            </a:r>
            <a:endParaRPr lang="ru-RU" sz="12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endParaRPr lang="ru-RU" sz="12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r>
              <a:rPr lang="ru-RU" sz="120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Требует стороний мессенджер</a:t>
            </a:r>
            <a:endParaRPr lang="ru-RU" sz="120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910080" y="172440"/>
            <a:ext cx="10536840" cy="70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СРАВНИТЕЛЬНАЯ ТАБЛИЦА АНАЛОГОВ</a:t>
            </a:r>
            <a:endParaRPr lang="ru-RU" sz="3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graphicFrame>
        <p:nvGraphicFramePr>
          <p:cNvPr id="103" name="Таблица 5"/>
          <p:cNvGraphicFramePr/>
          <p:nvPr/>
        </p:nvGraphicFramePr>
        <p:xfrm>
          <a:off x="224280" y="948960"/>
          <a:ext cx="11394360" cy="5591160"/>
        </p:xfrm>
        <a:graphic>
          <a:graphicData uri="http://schemas.openxmlformats.org/drawingml/2006/table">
            <a:tbl>
              <a:tblPr/>
              <a:tblGrid>
                <a:gridCol w="4163400"/>
                <a:gridCol w="2545920"/>
                <a:gridCol w="2295720"/>
                <a:gridCol w="2389680"/>
              </a:tblGrid>
              <a:tr h="845640">
                <a:tc>
                  <a:txBody>
                    <a:bodyPr tIns="75960" rIns="12168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ru-RU" sz="2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Критерий</a:t>
                      </a:r>
                      <a:endParaRPr lang="ru-RU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ru-RU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АНАЛОГ №1</a:t>
                      </a:r>
                      <a:endParaRPr lang="ru-RU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АНАЛОГ №2</a:t>
                      </a:r>
                      <a:endParaRPr lang="ru-RU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АНАЛОГ №3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384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6756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78552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08240">
                <a:tc>
                  <a:txBody>
                    <a:bodyPr tIns="75960" rIns="121680" bIns="75960" anchor="ctr">
                      <a:noAutofit/>
                    </a:bodyPr>
                    <a:p>
                      <a:endParaRPr lang="ru-RU" sz="14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rIns="12168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12168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1680" tIns="75960" bIns="75960" anchor="ctr">
                      <a:noAutofit/>
                    </a:bodyPr>
                    <a:p>
                      <a:endParaRPr lang="ru-RU" sz="14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121680" marR="9144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04" name="PlaceHolder 2"/>
          <p:cNvSpPr>
            <a:spLocks noGrp="1"/>
          </p:cNvSpPr>
          <p:nvPr>
            <p:ph type="sldNum" idx="40"/>
          </p:nvPr>
        </p:nvSpPr>
        <p:spPr>
          <a:xfrm>
            <a:off x="9300600" y="64339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16B34E-1AA8-4EDD-8A30-CEA2693470C2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5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1648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ЦЕЛЬ И ЗАДАЧИ ПРАКТИКИ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490400"/>
            <a:ext cx="11602080" cy="119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Целью</a:t>
            </a: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 </a:t>
            </a:r>
            <a:r>
              <a:rPr lang="ru-RU" sz="20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Times New Roman"/>
              </a:rPr>
              <a:t>практики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Прямоугольник 3"/>
          <p:cNvSpPr/>
          <p:nvPr/>
        </p:nvSpPr>
        <p:spPr>
          <a:xfrm>
            <a:off x="603720" y="3007440"/>
            <a:ext cx="641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20000"/>
              </a:lnSpc>
            </a:pPr>
            <a:r>
              <a:rPr lang="ru-RU" sz="2000" b="1" u="none" strike="noStrike">
                <a:solidFill>
                  <a:srgbClr val="002060"/>
                </a:solidFill>
                <a:effectLst/>
                <a:uFillTx/>
                <a:latin typeface="Times New Roman"/>
              </a:rPr>
              <a:t>Задачи практики: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3E2C07-ABBE-4E85-9B6E-816F1008BDDF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6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319320" y="161640"/>
            <a:ext cx="11455560" cy="103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ru-RU" sz="4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МОДЕЛЬ ПРОЦЕССА «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BE</a:t>
            </a:r>
            <a:r>
              <a:rPr lang="ru-RU" sz="4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»</a:t>
            </a:r>
            <a:endParaRPr lang="ru-RU" sz="4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ldNum" idx="42"/>
          </p:nvPr>
        </p:nvSpPr>
        <p:spPr>
          <a:xfrm>
            <a:off x="9142200" y="63666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4412BF-95DD-4F53-A586-E464E342FD65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7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19320" y="126360"/>
            <a:ext cx="11223000" cy="108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ru-RU" sz="3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ДИАГРАММА ВАРИАНТОВ ИСПОЛЬЗОВАНИЯ</a:t>
            </a:r>
            <a:endParaRPr lang="ru-RU" sz="3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43"/>
          </p:nvPr>
        </p:nvSpPr>
        <p:spPr>
          <a:xfrm>
            <a:off x="9249120" y="63648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4861B2-EC04-4447-A661-6057D6D7254E}" type="slidenum">
              <a:rPr lang="ru-RU" sz="12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2687</TotalTime>
  <Application>LibreOffice/26.2.3.2$Linux_X86_64 LibreOffice_project/a31940f583db492bb69b3a601caf6d1b0ecf61f1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2025-11-04T14:19:45Z</dcterms:created>
  <dc:creator>Максим Коломыцев</dc:creator>
  <dc:description/>
  <dc:language>ru-RU</dc:language>
  <cp:lastModifiedBy/>
  <dcterms:modified xsi:type="dcterms:W3CDTF">2026-07-08T03:33:07Z</dcterms:modified>
  <cp:revision>169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Широкоэкранный</vt:lpwstr>
  </property>
  <property fmtid="{D5CDD505-2E9C-101B-9397-08002B2CF9AE}" pid="4" name="Slides">
    <vt:r8>7</vt:r8>
  </property>
</Properties>
</file>