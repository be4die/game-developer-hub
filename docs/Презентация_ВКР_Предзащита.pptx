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imes New Roman"/>
              </a:rPr>
              <a:t>Игроки Яндекс Игр в месяц, млн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Игроки Яндекс Игр в месяц, млн</c:v>
                </c:pt>
              </c:strCache>
            </c:strRef>
          </c:tx>
          <c:spPr>
            <a:solidFill>
              <a:srgbClr val="2B5C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.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imes New Roman"/>
              </a:rPr>
              <a:t>Новые веб-игры за I полугодие, тыс.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Новые веб-игры за I полугодие, тыс.</c:v>
                </c:pt>
              </c:strCache>
            </c:strRef>
          </c:tx>
          <c:spPr>
            <a:solidFill>
              <a:srgbClr val="2B5C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</c:v>
                </c:pt>
                <c:pt idx="1">
                  <c:v>5.6</c:v>
                </c:pt>
                <c:pt idx="2">
                  <c:v>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.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Уважаемые члены Государственной аттестационной комиссии! Вашему вниманию представляется выпускная квалификационная работа на тему «Автоматизированная система управления процессом публикации и сопровождения веб-игр».
Работу выполнил обучающийся группы ДИПРБ-41 Наследсков Михаил Викторович под руководством доцента, кандидата технических наук Морозова А. В.
Переход: Начну с того, почему эта задача вообще возникла.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Веб-игры — один из самых быстрорастущих сегментов игровой индустрии: игру не нужно устанавливать, она открывается по ссылке, а распространяется через игровые площадки.
Аудитория Яндекс Игр за 2024 год выросла с 33 до 45 миллионов игроков в месяц, а новых веб-игр в первом полугодии 2025 года вышло в 2,7 раза больше, чем годом ранее.
Обратная сторона роста — требования ужесточаются: за год Яндекс удалил более 30 тысяч игр, не прошедших проверку. Площадкам приходится принимать всё больше игр и проверять их всё тщательнее, и вручную этот поток уже не обработать.
Переход: Именно с этой проблемой столкнулся заказчик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Заказчик — ИП Теплов С. Д., владелец игровой платформы Welwise Games. На платформе около 60 игр и 20 сторонних разработчиков, примерно 15 игр — онлайн и требуют игровых серверов. Доход от рекламы и покупок делится с авторами, поэтому платформе выгодно, чтобы игры выходили быстрее.
Вся публикация и сопровождение держатся на четырёх сотрудниках: ведущем менеджере, инженере по эксплуатации и двух модераторах. Каждая новая игра добавляет им работы.
Переход: Чтобы найти, где возникают потери, процесс сначала был описан в целом.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Контекстная диаграмма в нотации IDEF0 описывает процесс целиком: на входе сборки игры, материалы и команды управления сервером, на выходе — опубликованная игра, работающий сервер и отчёт для разработчика.
Самое показательное здесь — механизмы. Процесс выполняют не только сотрудники, но и сторонние сервисы: Telegram, GitHub Actions и отдельная программа отчётов. Эта связка людей и внешних инструментов и стала предметом анализа.
Переход: Рассмотрим, как процесс выглядит на практике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«как есть» построена в нотации BPMN. Публикация начинается с сообщения в Telegram, после чего инженер по эксплуатации создаёт для игры репозиторий и конвейер CI/CD. Первая проблема: конвейер нужно поддерживать для каждой игры, это требует отдельных навыков и привязывает платформу к Git-хостингу.
Вторая — общение с модератором идёт через зарубежный мессенджер: он работает нестабильно, а история замечаний теряется. Третья — выпуск после одобрения вручную запускает тот же инженер. Четвёртая — статистику разработчик получает раз в месяц, отчёт менеджер собирает вручную. В итоге от готовой сборки до публикации проходит до 15 дней.
Переход: С онлайн-играми ситуация ещё сложнее — им нужны серверы.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ручной работы ещё больше: размещение сервера начинается с запроса в мессенджере, а каждый запуск экземпляра выполняет инженер. Разработчик не видит журналов своего сервера и проверяет его вслепую, а любая остановка или перезапуск — снова запрос инженеру и ожидание. Онлайн-игра зависит от доступности одного сотрудника.
Переход: Исходя из выявленных проблем, были построены модели «как будет».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разрабатываемой системе разработчик проходит путь публикации сам, в том числе командой с разграничением прав. Загруженную сборку система сразу готовит к проверке, а игру разработчик проверяет в песочнице — без инженера.
Заявка сохраняется вместе с аудит-снимком, то есть зафиксированной версией проекта, поэтому модератор проверяет ровно то, что отправлено, а замечания остаются в сквозном чате. После одобрения версия публикуется автоматически, статистика обновляется ежедневно. Инженер и менеджер в процессе больше не участвуют.
Переход: Аналогично перестроено и управление серверами.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Разработчик загружает серверную сборку и выбирает, где запускать игру: на собственном узле — это новая возможность — или на серверах платформы с одобрения модератора. Затем он задаёт политику оркестрации, и дальше работает система.
Она запускает экземпляры, выдаёт игроку свободный, а если мест нет — запускает новый или ставит в очередь. Сбой, простой и команды разработчика обрабатываются автоматически, журналы доступны в интерфейсе.
Переход: Возникает закономерный вопрос: почему бы не воспользоваться готовым решением?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ответа был проведён анализ пяти площадок публикации веб-игр. Самостоятельную публикацию, модерацию и показатели монетизации они в той или иной мере дают. Но ни одна не предоставляет сквозного чата с модератором и управления игровыми серверами — а для онлайн-игр это ключевое. К тому же это внешние площадки, а заказчику нужна система внутри собственной платформы. Поэтому было принято решение о разработке собственной системы.
Переход: Это решение и определило цель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Целью работы является повышение эффективности публикации и сопровождения веб-игр на платформе Welwise Games за счёт системы, которая переводит разработчиков на самообслуживание и убирает ручные операции сотрудников.
Для этого поставлено шесть задач. На текущий момент выполнены анализ, модели процессов и техническое задание по ГОСТ 34.602-2020; проектирование и реализация подсистем ведутся параллельно.
Переход: Функции системы определены диаграммами вариантов использования.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соответствии с техническим заданием выделены четыре роли: разработчик, модератор, администратор и клиент игры — программа, которая запрашивает у системы сервер. Функции разбиты по контекстам, всего шесть диаграмм в нотации UML.
В работе над проектом разработчик ведёт черновик, проверяет игру в песочнице, управляет внутриигровыми товарами и выгружает аналитику. Для совместной работы владелец проекта приглашает участников и управляет их правами.
Переход: Следующая пара контекстов — модерация и игровые серверы.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Модерация объединяет разработчика и модератора: заявки на публикацию и доступ к серверам, проверка тестовой сборки, решение. Отклоняя заявку, модератор обязан указать нарушенные правила — это отношение включения. В серверном контексте разработчик управляет сборками, политикой и экземплярами, а клиент игры получает свободный сервер или встаёт в очередь.
Переход: Последние два контекста касаются инфраструктуры и учётных записей.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Разработчик подключает собственные узлы и ведёт сервисы данных с резервным копированием, администратор включает узлы в пул платформы и управляет учётными записями, а персонал может экстренно снять игру с публикации.
Таким образом, на текущем этапе проанализирована предметная область, построены модели процессов, разработано техническое задание и определены функции системы; проектирование и реализация продолжаются.
Позвольте на этом завершить доклад. Благодарю за внимание, готов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image" Target="../media/image-5-1.png"/><Relationship Id="rId9" Type="http://schemas.openxmlformats.org/officeDocument/2006/relationships/image" Target="../media/image-5-1.png"/><Relationship Id="rId10" Type="http://schemas.openxmlformats.org/officeDocument/2006/relationships/image" Target="../media/image-5-4.png"/><Relationship Id="rId11" Type="http://schemas.openxmlformats.org/officeDocument/2006/relationships/image" Target="../media/image-5-1.png"/><Relationship Id="rId12" Type="http://schemas.openxmlformats.org/officeDocument/2006/relationships/image" Target="../media/image-5-1.png"/><Relationship Id="rId13" Type="http://schemas.openxmlformats.org/officeDocument/2006/relationships/image" Target="../media/image-5-1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image" Target="../media/image-5-1.png"/><Relationship Id="rId9" Type="http://schemas.openxmlformats.org/officeDocument/2006/relationships/image" Target="../media/image-5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4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4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image" Target="../media/image-5-4.png"/><Relationship Id="rId9" Type="http://schemas.openxmlformats.org/officeDocument/2006/relationships/image" Target="../media/image-5-4.png"/><Relationship Id="rId10" Type="http://schemas.openxmlformats.org/officeDocument/2006/relationships/image" Target="../media/image-5-1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4.png"/><Relationship Id="rId7" Type="http://schemas.openxmlformats.org/officeDocument/2006/relationships/image" Target="../media/image-5-4.png"/><Relationship Id="rId8" Type="http://schemas.openxmlformats.org/officeDocument/2006/relationships/image" Target="../media/image-5-4.png"/><Relationship Id="rId9" Type="http://schemas.openxmlformats.org/officeDocument/2006/relationships/image" Target="../media/image-5-4.png"/><Relationship Id="rId10" Type="http://schemas.openxmlformats.org/officeDocument/2006/relationships/image" Target="../media/image-5-4.png"/><Relationship Id="rId11" Type="http://schemas.openxmlformats.org/officeDocument/2006/relationships/image" Target="../media/image-5-4.png"/><Relationship Id="rId12" Type="http://schemas.openxmlformats.org/officeDocument/2006/relationships/image" Target="../media/image-5-4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ag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228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Федеральное агентство по рыболовству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Федеральное государственное бюджетное учреждение высшего образования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«Астраханский государственный технический университет»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менеджмента качества в области образования, воспитания, науки и инноваций сертифицирована ООО «ДКС РУС» по международному стандарту ISO 9001:2015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737360" y="1371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Кафедра </a:t>
            </a:r>
            <a:pPr algn="ctr" indent="0" marL="0">
              <a:buNone/>
            </a:pPr>
            <a:r>
              <a:rPr lang="en-US" sz="12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Автоматизированные системы обработки информации и управления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ВЫПУСКНАЯ КВАЛИФИКАЦИОННАЯ РАБОТА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теме: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«Автоматизированная система управления процессом публикации и сопровождения веб‑игр»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2918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Выполнил: обучающийся гр. ДИПРБ-41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Наследсков Михаил Викторович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 ВКР: к.т.н., доцент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Морозов А. В.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Астрахань 2026 г.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АНАЛИЗ ПРЕДМЕТНОЙ ОБЛАСТИ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Веб-игра</a:t>
            </a:r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приложение, которое запускается в браузере без скачивания и установки. Игры распространяются через площадки, которые принимают, проверяют и публикуют их.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0876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50876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3383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Около 28 тыс. игр в каталоге; за 2024 г. опубликовано более 29 тыс. новых игр и удалено более 30 тыс., не прошедших требования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846320" y="3383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I полугодии 2025 г. выпущено более 15 тыс. веб-игр — в 2,7 раза больше, чем годом ранее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12700">
            <a:solidFill>
              <a:srgbClr val="2B5C8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" y="40965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Игр кратно больше, требования жёстче — ручной приём, проверка и выпуск не успевают за ростом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Источники: App2Top, интервью руководителя развития бизнеса Яндекс Игр об итогах 2024 г. (24.01.2025); Playgama, отчёт о рынке веб-игр за I полугодие 2025 г. (29.07.2025)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ЗАКАЗЧИК</a:t>
            </a:r>
            <a:endParaRPr lang="en-US" sz="2800" dirty="0"/>
          </a:p>
        </p:txBody>
      </p:sp>
      <p:pic>
        <p:nvPicPr>
          <p:cNvPr id="3" name="Image 0" descr="img/welwise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96112"/>
            <a:ext cx="1600200" cy="2721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91840" y="1280160"/>
            <a:ext cx="914" cy="685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91840" y="1348740"/>
            <a:ext cx="914" cy="685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91840" y="1801368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32788" y="1883664"/>
            <a:ext cx="3264408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32788" y="188366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98164" y="188366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97196" y="188366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32788" y="2350008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0100" y="2432304"/>
            <a:ext cx="1865376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0100" y="243230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32788" y="243230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65476" y="243230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8164" y="2350008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98164" y="243230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97196" y="2350008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30852" y="2432304"/>
            <a:ext cx="932688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30852" y="243230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63540" y="2432304"/>
            <a:ext cx="914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31720" y="896112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359152" y="896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Основатель ИП Теплов С. Д.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331720" y="1417320"/>
            <a:ext cx="1920240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B5C8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359152" y="141732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Соучредитель / ведущий менеджер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69848" y="1965960"/>
            <a:ext cx="1325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196596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Технический отдел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150108" y="1965960"/>
            <a:ext cx="89611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77540" y="196596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Отдел модерации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334256" y="1965960"/>
            <a:ext cx="1325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61688" y="196596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Студия разработки игр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61188" y="2514600"/>
            <a:ext cx="8778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88620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Разработчик серверной части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293876" y="2514600"/>
            <a:ext cx="8778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21308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Разработчик клиентской части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226564" y="2514600"/>
            <a:ext cx="877824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2B5C8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253996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Инженер по эксплуатации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159252" y="2514600"/>
            <a:ext cx="877824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2B5C8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186684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Специалисты по модерации (2)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091940" y="2514600"/>
            <a:ext cx="8778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119372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Unity-разработчик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024628" y="2514600"/>
            <a:ext cx="8778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052060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Художники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65760" y="3127248"/>
            <a:ext cx="237744" cy="137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C8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5800" y="307238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сотрудники, обеспечивающие публикацию и сопровождение игр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365760" y="3429000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Welwise Games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платформа веб-игр, запущена в 2025 г.: ≈60 игр, из них ≈15 онлайн-игр с игровыми серверами, ≈20 сторонних разработчиков.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Бизнес-модель: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доход от рекламы и внутриигровых покупок делится с авторами игр.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Сопровождение: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инженер по эксплуатации, два модератора и менеджер.</a:t>
            </a:r>
            <a:endParaRPr lang="en-US" sz="1300" dirty="0"/>
          </a:p>
        </p:txBody>
      </p:sp>
      <p:pic>
        <p:nvPicPr>
          <p:cNvPr id="47" name="Image 1" descr="img/site-ta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225" y="896112"/>
            <a:ext cx="2389015" cy="3931920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6389225" y="896112"/>
            <a:ext cx="2389015" cy="39319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КОНТЕКСТНАЯ ДИАГРАММА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154680" y="2057400"/>
            <a:ext cx="2834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46120" y="21488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Публикация и сопровождение веб-игр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3108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58568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65760" y="20116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Сборка веб-игры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569464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65760" y="232257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Описание и промо-материалы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65760" y="263347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Сборка игрового сервера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191256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65760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Команды управления сервером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2258568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08076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Опубликованная игра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569464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080760" y="2322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Доступный игровой сервер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2880360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080760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Журнал игрового сервера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3191256"/>
            <a:ext cx="278892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08076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Ежемесячный отчёт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566160" y="1051560"/>
            <a:ext cx="914" cy="10058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621024" y="960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Требования площадки к играм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1325880"/>
            <a:ext cx="914" cy="7315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626864" y="1234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Руководство разработчика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77840" y="1600200"/>
            <a:ext cx="914" cy="4572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632704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Практики непрерывной интеграции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 flipV="1">
            <a:off x="3474720" y="3383280"/>
            <a:ext cx="914" cy="1325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529584" y="45537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Разработчик игры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 flipV="1">
            <a:off x="4206240" y="3383280"/>
            <a:ext cx="914" cy="106984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261104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Модераторы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flipV="1">
            <a:off x="4937760" y="3383280"/>
            <a:ext cx="914" cy="81381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992624" y="40416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Инженер, менеджер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 flipV="1">
            <a:off x="5669280" y="3383280"/>
            <a:ext cx="914" cy="55778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724144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Telegram, GitHub Actions, программа отчётов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ПРОЦЕССА «КАК ЕСТЬ»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Публикация и обновление игры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87552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 rot="16200000">
            <a:off x="9144" y="1252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Разработчик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8595360" cy="768096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01952"/>
            <a:ext cx="0" cy="7680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82296" y="20939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Инженер по эксплуатации</a:t>
            </a:r>
            <a:endParaRPr lang="en-US" sz="833" dirty="0"/>
          </a:p>
        </p:txBody>
      </p:sp>
      <p:sp>
        <p:nvSpPr>
          <p:cNvPr id="10" name="Shape 8"/>
          <p:cNvSpPr/>
          <p:nvPr/>
        </p:nvSpPr>
        <p:spPr>
          <a:xfrm>
            <a:off x="274320" y="2670048"/>
            <a:ext cx="8595360" cy="658368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70048"/>
            <a:ext cx="0" cy="65836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 rot="16200000">
            <a:off x="137160" y="280720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328416"/>
            <a:ext cx="0" cy="73152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 rot="16200000">
            <a:off x="100584" y="35021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Модератор</a:t>
            </a:r>
            <a:endParaRPr lang="en-US" sz="1051" dirty="0"/>
          </a:p>
        </p:txBody>
      </p:sp>
      <p:sp>
        <p:nvSpPr>
          <p:cNvPr id="16" name="Shape 14"/>
          <p:cNvSpPr/>
          <p:nvPr/>
        </p:nvSpPr>
        <p:spPr>
          <a:xfrm>
            <a:off x="274320" y="4059936"/>
            <a:ext cx="8595360" cy="7315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059936"/>
            <a:ext cx="0" cy="73152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 rot="16200000">
            <a:off x="100584" y="42336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Менеджер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" y="14081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16824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Игра готова к публикации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40180" y="1280160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0" descr="img/icon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756" y="1312164"/>
            <a:ext cx="109728" cy="10972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76756" y="1399032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Запросить размещение в Telegram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440180" y="2029968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5" name="Image 1" descr="img/icon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56" y="2061972"/>
            <a:ext cx="109728" cy="10972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76756" y="2148840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Создать репозиторий и конвейер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400300" y="1280160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8" name="Image 2" descr="img/icon-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1312164"/>
            <a:ext cx="109728" cy="10972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436876" y="1399032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Загрузить сборку в репозиторий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2400300" y="2743200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1" name="Image 3" descr="img/icon-serv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876" y="2775204"/>
            <a:ext cx="109728" cy="10972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436876" y="2862072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Развернуть в тестовом окружении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406140" y="1280160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4" name="Image 4" descr="img/icon-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6" y="1312164"/>
            <a:ext cx="109728" cy="10972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442716" y="1399032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Передать ссылку и материалы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406140" y="3328416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7" name="Image 5" descr="img/icon-u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2716" y="3360420"/>
            <a:ext cx="109728" cy="10972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442716" y="3447288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Проверить игру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4681728" y="3419856"/>
            <a:ext cx="329184" cy="32918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4681728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2000" dirty="0"/>
          </a:p>
        </p:txBody>
      </p:sp>
      <p:sp>
        <p:nvSpPr>
          <p:cNvPr id="41" name="Text 33"/>
          <p:cNvSpPr txBox="1"/>
          <p:nvPr/>
        </p:nvSpPr>
        <p:spPr>
          <a:xfrm>
            <a:off x="4366260" y="37673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Соответствует требованиям?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411980" y="1280160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3" name="Image 6" descr="img/icon-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556" y="1312164"/>
            <a:ext cx="109728" cy="109728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448556" y="1399032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Доработать по замечаниям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5554980" y="3328416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6" name="Image 7" descr="img/icon-us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556" y="3360420"/>
            <a:ext cx="109728" cy="10972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5591556" y="3447288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Сообщить о готовности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5554980" y="2029968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9" name="Image 8" descr="img/icon-us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1556" y="2061972"/>
            <a:ext cx="109728" cy="10972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5591556" y="2148840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Вручную запустить выпуск</a:t>
            </a:r>
            <a:endParaRPr lang="en-US" sz="950" dirty="0"/>
          </a:p>
        </p:txBody>
      </p:sp>
      <p:sp>
        <p:nvSpPr>
          <p:cNvPr id="51" name="Shape 40"/>
          <p:cNvSpPr/>
          <p:nvPr/>
        </p:nvSpPr>
        <p:spPr>
          <a:xfrm>
            <a:off x="6423660" y="2743200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2" name="Image 9" descr="img/icon-servic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0236" y="2775204"/>
            <a:ext cx="109728" cy="109728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6460236" y="2862072"/>
            <a:ext cx="795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Развернуть в продуктивном окружении</a:t>
            </a:r>
            <a:endParaRPr lang="en-US" sz="950" dirty="0"/>
          </a:p>
        </p:txBody>
      </p:sp>
      <p:sp>
        <p:nvSpPr>
          <p:cNvPr id="54" name="Shape 42"/>
          <p:cNvSpPr/>
          <p:nvPr/>
        </p:nvSpPr>
        <p:spPr>
          <a:xfrm>
            <a:off x="7434072" y="2871216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7178040" y="314553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Игра опубликована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6135624" y="429768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6195060" y="4357116"/>
            <a:ext cx="137160" cy="137160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 flipV="1">
            <a:off x="6263640" y="4375404"/>
            <a:ext cx="914" cy="5029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263640" y="4425696"/>
            <a:ext cx="36576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5829300" y="4572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Конец месяца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6697980" y="4123944"/>
            <a:ext cx="8686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2" name="Image 10" descr="img/icon-us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4556" y="4155948"/>
            <a:ext cx="109728" cy="109728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6734556" y="4242816"/>
            <a:ext cx="795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Собрать отчёт в настольной программе</a:t>
            </a:r>
            <a:endParaRPr lang="en-US" sz="950" dirty="0"/>
          </a:p>
        </p:txBody>
      </p:sp>
      <p:sp>
        <p:nvSpPr>
          <p:cNvPr id="64" name="Shape 51"/>
          <p:cNvSpPr/>
          <p:nvPr/>
        </p:nvSpPr>
        <p:spPr>
          <a:xfrm>
            <a:off x="7644384" y="4123944"/>
            <a:ext cx="80467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5" name="Image 11" descr="img/icon-us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0960" y="4155948"/>
            <a:ext cx="109728" cy="109728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7680960" y="4242816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Отправить отчёт в Telegram</a:t>
            </a:r>
            <a:endParaRPr lang="en-US" sz="950" dirty="0"/>
          </a:p>
        </p:txBody>
      </p:sp>
      <p:sp>
        <p:nvSpPr>
          <p:cNvPr id="67" name="Shape 53"/>
          <p:cNvSpPr/>
          <p:nvPr/>
        </p:nvSpPr>
        <p:spPr>
          <a:xfrm>
            <a:off x="7644384" y="1280160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8" name="Image 12" descr="img/icon-us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960" y="1312164"/>
            <a:ext cx="109728" cy="109728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7680960" y="1399032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Изучить отчёт</a:t>
            </a:r>
            <a:endParaRPr lang="en-US" sz="950" dirty="0"/>
          </a:p>
        </p:txBody>
      </p:sp>
      <p:sp>
        <p:nvSpPr>
          <p:cNvPr id="70" name="Shape 55"/>
          <p:cNvSpPr/>
          <p:nvPr/>
        </p:nvSpPr>
        <p:spPr>
          <a:xfrm>
            <a:off x="8558784" y="1408176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71" name="Text 56"/>
          <p:cNvSpPr txBox="1"/>
          <p:nvPr/>
        </p:nvSpPr>
        <p:spPr>
          <a:xfrm>
            <a:off x="8476488" y="1078992"/>
            <a:ext cx="39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Отчёт изучен</a:t>
            </a:r>
            <a:endParaRPr lang="en-US" sz="900" dirty="0"/>
          </a:p>
        </p:txBody>
      </p:sp>
      <p:sp>
        <p:nvSpPr>
          <p:cNvPr id="72" name="Shape 57"/>
          <p:cNvSpPr/>
          <p:nvPr/>
        </p:nvSpPr>
        <p:spPr>
          <a:xfrm>
            <a:off x="1088136" y="1536192"/>
            <a:ext cx="35204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3" name="Shape 58"/>
          <p:cNvSpPr/>
          <p:nvPr/>
        </p:nvSpPr>
        <p:spPr>
          <a:xfrm>
            <a:off x="1874520" y="1792224"/>
            <a:ext cx="914" cy="23774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4" name="Shape 59"/>
          <p:cNvSpPr/>
          <p:nvPr/>
        </p:nvSpPr>
        <p:spPr>
          <a:xfrm>
            <a:off x="2308860" y="2286000"/>
            <a:ext cx="29718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 flipV="1">
            <a:off x="2606040" y="1792224"/>
            <a:ext cx="914" cy="49377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6" name="Shape 61"/>
          <p:cNvSpPr/>
          <p:nvPr/>
        </p:nvSpPr>
        <p:spPr>
          <a:xfrm>
            <a:off x="2971800" y="1792224"/>
            <a:ext cx="914" cy="95097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7" name="Shape 62"/>
          <p:cNvSpPr/>
          <p:nvPr/>
        </p:nvSpPr>
        <p:spPr>
          <a:xfrm>
            <a:off x="3268980" y="2999232"/>
            <a:ext cx="34290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 flipV="1">
            <a:off x="3611880" y="1792224"/>
            <a:ext cx="914" cy="12070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9" name="Shape 64"/>
          <p:cNvSpPr/>
          <p:nvPr/>
        </p:nvSpPr>
        <p:spPr>
          <a:xfrm>
            <a:off x="3977640" y="1792224"/>
            <a:ext cx="914" cy="15361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0" name="Shape 65"/>
          <p:cNvSpPr/>
          <p:nvPr/>
        </p:nvSpPr>
        <p:spPr>
          <a:xfrm>
            <a:off x="4274820" y="3584448"/>
            <a:ext cx="40690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1" name="Shape 66"/>
          <p:cNvSpPr/>
          <p:nvPr/>
        </p:nvSpPr>
        <p:spPr>
          <a:xfrm flipV="1">
            <a:off x="4846320" y="1792224"/>
            <a:ext cx="914" cy="162763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2" name="Text 67"/>
          <p:cNvSpPr txBox="1"/>
          <p:nvPr/>
        </p:nvSpPr>
        <p:spPr>
          <a:xfrm>
            <a:off x="4892040" y="2715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</a:t>
            </a:r>
            <a:endParaRPr lang="en-US" sz="900" dirty="0"/>
          </a:p>
        </p:txBody>
      </p:sp>
      <p:sp>
        <p:nvSpPr>
          <p:cNvPr id="83" name="Shape 68"/>
          <p:cNvSpPr/>
          <p:nvPr/>
        </p:nvSpPr>
        <p:spPr>
          <a:xfrm flipV="1">
            <a:off x="4846320" y="1106424"/>
            <a:ext cx="914" cy="17373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 flipH="1">
            <a:off x="2834640" y="1106424"/>
            <a:ext cx="201168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2834640" y="1106424"/>
            <a:ext cx="914" cy="17373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6" name="Shape 71"/>
          <p:cNvSpPr/>
          <p:nvPr/>
        </p:nvSpPr>
        <p:spPr>
          <a:xfrm>
            <a:off x="5010912" y="3584448"/>
            <a:ext cx="54406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7" name="Text 72"/>
          <p:cNvSpPr txBox="1"/>
          <p:nvPr/>
        </p:nvSpPr>
        <p:spPr>
          <a:xfrm>
            <a:off x="5056632" y="3401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</a:t>
            </a:r>
            <a:endParaRPr lang="en-US" sz="900" dirty="0"/>
          </a:p>
        </p:txBody>
      </p:sp>
      <p:sp>
        <p:nvSpPr>
          <p:cNvPr id="88" name="Shape 73"/>
          <p:cNvSpPr/>
          <p:nvPr/>
        </p:nvSpPr>
        <p:spPr>
          <a:xfrm flipV="1">
            <a:off x="5989320" y="2542032"/>
            <a:ext cx="914" cy="78638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9" name="Shape 74"/>
          <p:cNvSpPr/>
          <p:nvPr/>
        </p:nvSpPr>
        <p:spPr>
          <a:xfrm>
            <a:off x="6423660" y="2286000"/>
            <a:ext cx="4343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75"/>
          <p:cNvSpPr/>
          <p:nvPr/>
        </p:nvSpPr>
        <p:spPr>
          <a:xfrm>
            <a:off x="6858000" y="2286000"/>
            <a:ext cx="914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1" name="Shape 76"/>
          <p:cNvSpPr/>
          <p:nvPr/>
        </p:nvSpPr>
        <p:spPr>
          <a:xfrm>
            <a:off x="7292340" y="2999232"/>
            <a:ext cx="14173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2" name="Shape 77"/>
          <p:cNvSpPr/>
          <p:nvPr/>
        </p:nvSpPr>
        <p:spPr>
          <a:xfrm>
            <a:off x="6391656" y="4425696"/>
            <a:ext cx="30632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3" name="Shape 78"/>
          <p:cNvSpPr/>
          <p:nvPr/>
        </p:nvSpPr>
        <p:spPr>
          <a:xfrm>
            <a:off x="7566660" y="4425696"/>
            <a:ext cx="7772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4" name="Shape 79"/>
          <p:cNvSpPr/>
          <p:nvPr/>
        </p:nvSpPr>
        <p:spPr>
          <a:xfrm flipV="1">
            <a:off x="8046720" y="1792224"/>
            <a:ext cx="914" cy="23317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5" name="Shape 80"/>
          <p:cNvSpPr/>
          <p:nvPr/>
        </p:nvSpPr>
        <p:spPr>
          <a:xfrm>
            <a:off x="8449056" y="1536192"/>
            <a:ext cx="10972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6" name="a1_hl0"/>
          <p:cNvSpPr/>
          <p:nvPr/>
        </p:nvSpPr>
        <p:spPr>
          <a:xfrm>
            <a:off x="1385316" y="1975104"/>
            <a:ext cx="978408" cy="621792"/>
          </a:xfrm>
          <a:prstGeom prst="roundRect">
            <a:avLst>
              <a:gd name="adj" fmla="val 8824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97" name="a1_m0"/>
          <p:cNvSpPr/>
          <p:nvPr/>
        </p:nvSpPr>
        <p:spPr>
          <a:xfrm>
            <a:off x="2226564" y="1837944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8" name="a1_m0_n"/>
          <p:cNvSpPr txBox="1"/>
          <p:nvPr/>
        </p:nvSpPr>
        <p:spPr>
          <a:xfrm>
            <a:off x="2226564" y="1837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99" name="a1_hl1"/>
          <p:cNvSpPr/>
          <p:nvPr/>
        </p:nvSpPr>
        <p:spPr>
          <a:xfrm>
            <a:off x="2345436" y="2688336"/>
            <a:ext cx="978408" cy="621792"/>
          </a:xfrm>
          <a:prstGeom prst="roundRect">
            <a:avLst>
              <a:gd name="adj" fmla="val 8824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100" name="a1_m1"/>
          <p:cNvSpPr/>
          <p:nvPr/>
        </p:nvSpPr>
        <p:spPr>
          <a:xfrm>
            <a:off x="3186684" y="2551176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1" name="a1_m1_n"/>
          <p:cNvSpPr txBox="1"/>
          <p:nvPr/>
        </p:nvSpPr>
        <p:spPr>
          <a:xfrm>
            <a:off x="3186684" y="2551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02" name="a1_lm"/>
          <p:cNvSpPr/>
          <p:nvPr/>
        </p:nvSpPr>
        <p:spPr>
          <a:xfrm>
            <a:off x="749808" y="4133088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3" name="a1_lm_n"/>
          <p:cNvSpPr txBox="1"/>
          <p:nvPr/>
        </p:nvSpPr>
        <p:spPr>
          <a:xfrm>
            <a:off x="749808" y="4133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04" name="a1_lt"/>
          <p:cNvSpPr txBox="1"/>
          <p:nvPr/>
        </p:nvSpPr>
        <p:spPr>
          <a:xfrm>
            <a:off x="1024128" y="41148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CI/CD для каждой игры: сложная поддержка, привязка к Git-хостингу</a:t>
            </a:r>
            <a:endParaRPr lang="en-US" sz="1000" dirty="0"/>
          </a:p>
        </p:txBody>
      </p:sp>
      <p:sp>
        <p:nvSpPr>
          <p:cNvPr id="105" name="a2_hl0"/>
          <p:cNvSpPr/>
          <p:nvPr/>
        </p:nvSpPr>
        <p:spPr>
          <a:xfrm>
            <a:off x="1385316" y="1225296"/>
            <a:ext cx="978408" cy="621792"/>
          </a:xfrm>
          <a:prstGeom prst="roundRect">
            <a:avLst>
              <a:gd name="adj" fmla="val 8824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106" name="a2_m0"/>
          <p:cNvSpPr/>
          <p:nvPr/>
        </p:nvSpPr>
        <p:spPr>
          <a:xfrm>
            <a:off x="2226564" y="1088136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7" name="a2_m0_n"/>
          <p:cNvSpPr txBox="1"/>
          <p:nvPr/>
        </p:nvSpPr>
        <p:spPr>
          <a:xfrm>
            <a:off x="2226564" y="1088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08" name="a2_hl1"/>
          <p:cNvSpPr/>
          <p:nvPr/>
        </p:nvSpPr>
        <p:spPr>
          <a:xfrm>
            <a:off x="3351276" y="1225296"/>
            <a:ext cx="1984248" cy="621792"/>
          </a:xfrm>
          <a:prstGeom prst="roundRect">
            <a:avLst>
              <a:gd name="adj" fmla="val 8824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109" name="a2_m1"/>
          <p:cNvSpPr/>
          <p:nvPr/>
        </p:nvSpPr>
        <p:spPr>
          <a:xfrm>
            <a:off x="5198364" y="1088136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0" name="a2_m1_n"/>
          <p:cNvSpPr txBox="1"/>
          <p:nvPr/>
        </p:nvSpPr>
        <p:spPr>
          <a:xfrm>
            <a:off x="5198364" y="1088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11" name="a2_lm"/>
          <p:cNvSpPr/>
          <p:nvPr/>
        </p:nvSpPr>
        <p:spPr>
          <a:xfrm>
            <a:off x="3429000" y="4133088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2" name="a2_lm_n"/>
          <p:cNvSpPr txBox="1"/>
          <p:nvPr/>
        </p:nvSpPr>
        <p:spPr>
          <a:xfrm>
            <a:off x="3429000" y="4133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13" name="a2_lt"/>
          <p:cNvSpPr txBox="1"/>
          <p:nvPr/>
        </p:nvSpPr>
        <p:spPr>
          <a:xfrm>
            <a:off x="3703320" y="4114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Связь через зарубежный мессенджер: нестабильно, история теряется</a:t>
            </a:r>
            <a:endParaRPr lang="en-US" sz="1000" dirty="0"/>
          </a:p>
        </p:txBody>
      </p:sp>
      <p:sp>
        <p:nvSpPr>
          <p:cNvPr id="114" name="a3_hl0"/>
          <p:cNvSpPr/>
          <p:nvPr/>
        </p:nvSpPr>
        <p:spPr>
          <a:xfrm>
            <a:off x="5500116" y="1975104"/>
            <a:ext cx="978408" cy="621792"/>
          </a:xfrm>
          <a:prstGeom prst="roundRect">
            <a:avLst>
              <a:gd name="adj" fmla="val 8824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115" name="a3_m0"/>
          <p:cNvSpPr/>
          <p:nvPr/>
        </p:nvSpPr>
        <p:spPr>
          <a:xfrm>
            <a:off x="6341364" y="1837944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6" name="a3_m0_n"/>
          <p:cNvSpPr txBox="1"/>
          <p:nvPr/>
        </p:nvSpPr>
        <p:spPr>
          <a:xfrm>
            <a:off x="6341364" y="1837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17" name="a3_lm"/>
          <p:cNvSpPr/>
          <p:nvPr/>
        </p:nvSpPr>
        <p:spPr>
          <a:xfrm>
            <a:off x="749808" y="4480560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8" name="a3_lm_n"/>
          <p:cNvSpPr txBox="1"/>
          <p:nvPr/>
        </p:nvSpPr>
        <p:spPr>
          <a:xfrm>
            <a:off x="749808" y="4480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19" name="a3_lt"/>
          <p:cNvSpPr txBox="1"/>
          <p:nvPr/>
        </p:nvSpPr>
        <p:spPr>
          <a:xfrm>
            <a:off x="1024128" y="4462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Выпуск игры зависит от одного инженера</a:t>
            </a:r>
            <a:endParaRPr lang="en-US" sz="1000" dirty="0"/>
          </a:p>
        </p:txBody>
      </p:sp>
      <p:sp>
        <p:nvSpPr>
          <p:cNvPr id="120" name="a4_hl0"/>
          <p:cNvSpPr/>
          <p:nvPr/>
        </p:nvSpPr>
        <p:spPr>
          <a:xfrm>
            <a:off x="6080760" y="4069080"/>
            <a:ext cx="2423160" cy="713232"/>
          </a:xfrm>
          <a:prstGeom prst="roundRect">
            <a:avLst>
              <a:gd name="adj" fmla="val 7692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121" name="a4_m0"/>
          <p:cNvSpPr/>
          <p:nvPr/>
        </p:nvSpPr>
        <p:spPr>
          <a:xfrm>
            <a:off x="8366760" y="3931920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2" name="a4_m0_n"/>
          <p:cNvSpPr txBox="1"/>
          <p:nvPr/>
        </p:nvSpPr>
        <p:spPr>
          <a:xfrm>
            <a:off x="8366760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23" name="a4_lm"/>
          <p:cNvSpPr/>
          <p:nvPr/>
        </p:nvSpPr>
        <p:spPr>
          <a:xfrm>
            <a:off x="3429000" y="4480560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4" name="a4_lm_n"/>
          <p:cNvSpPr txBox="1"/>
          <p:nvPr/>
        </p:nvSpPr>
        <p:spPr>
          <a:xfrm>
            <a:off x="3429000" y="4480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25" name="a4_lt"/>
          <p:cNvSpPr txBox="1"/>
          <p:nvPr/>
        </p:nvSpPr>
        <p:spPr>
          <a:xfrm>
            <a:off x="3703320" y="44622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Статистика — раз в месяц, отчёт собирается вручную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ПРОЦЕССА «КАК ЕСТЬ»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Управление игровыми серверами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132588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87552"/>
            <a:ext cx="0" cy="1325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 rot="16200000">
            <a:off x="-196596" y="14584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Разработчик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13432"/>
            <a:ext cx="8595360" cy="123444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13432"/>
            <a:ext cx="0" cy="123444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-150876" y="27386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Инженер по эксплуатации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47872"/>
            <a:ext cx="8595360" cy="1243584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47872"/>
            <a:ext cx="0" cy="124358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 rot="16200000">
            <a:off x="-155448" y="397764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15224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17967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Нужен игровой сервер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43584" y="132130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0" descr="img/icon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53312"/>
            <a:ext cx="109728" cy="10972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80160" y="144018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Запросить сервер в Telegram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243584" y="260146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9" name="Image 1" descr="img/icon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633472"/>
            <a:ext cx="109728" cy="10972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80160" y="272034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Создать репозиторий и конвейер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340864" y="132130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2" descr="img/icon-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353312"/>
            <a:ext cx="109728" cy="1097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377440" y="144018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Загрузить сборку в репозиторий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340864" y="384048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5" name="Image 3" descr="img/icon-serv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872484"/>
            <a:ext cx="109728" cy="10972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377440" y="3959352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Доставить сборку на сервер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575304" y="132130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8" name="Image 4" descr="img/icon-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353312"/>
            <a:ext cx="109728" cy="10972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611880" y="144018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Запросить запуск в Telegram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575304" y="260146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1" name="Image 5" descr="img/icon-u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633472"/>
            <a:ext cx="109728" cy="10972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11880" y="272034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Вручную запустить экземпляр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672584" y="132130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4" name="Image 6" descr="img/icon-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353312"/>
            <a:ext cx="109728" cy="10972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709160" y="144018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Проверить сервер без журналов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961888" y="1485900"/>
            <a:ext cx="329184" cy="32918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5961888" y="14676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2000" dirty="0"/>
          </a:p>
        </p:txBody>
      </p:sp>
      <p:sp>
        <p:nvSpPr>
          <p:cNvPr id="38" name="Text 29"/>
          <p:cNvSpPr txBox="1"/>
          <p:nvPr/>
        </p:nvSpPr>
        <p:spPr>
          <a:xfrm>
            <a:off x="5737860" y="18333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Нужно действие?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592824" y="132130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0" name="Image 7" descr="img/icon-us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1353312"/>
            <a:ext cx="109728" cy="10972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629400" y="144018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Запросить остановку или перезапуск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592824" y="2601468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3" name="Image 8" descr="img/icon-us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633472"/>
            <a:ext cx="109728" cy="109728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629400" y="2720340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Вручную остановить или перезапустить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8375904" y="1522476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8220456" y="17967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Сервер работает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950976" y="1650492"/>
            <a:ext cx="29260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1737360" y="1979676"/>
            <a:ext cx="914" cy="6217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Shape 38"/>
          <p:cNvSpPr/>
          <p:nvPr/>
        </p:nvSpPr>
        <p:spPr>
          <a:xfrm>
            <a:off x="2231136" y="2930652"/>
            <a:ext cx="37490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 flipV="1">
            <a:off x="2606040" y="1979676"/>
            <a:ext cx="914" cy="95097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1" name="Shape 40"/>
          <p:cNvSpPr/>
          <p:nvPr/>
        </p:nvSpPr>
        <p:spPr>
          <a:xfrm>
            <a:off x="2971800" y="1979676"/>
            <a:ext cx="914" cy="18608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3328416" y="4169664"/>
            <a:ext cx="11887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 flipV="1">
            <a:off x="3447288" y="1650492"/>
            <a:ext cx="914" cy="251917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447288" y="1650492"/>
            <a:ext cx="128016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5" name="Shape 44"/>
          <p:cNvSpPr/>
          <p:nvPr/>
        </p:nvSpPr>
        <p:spPr>
          <a:xfrm>
            <a:off x="4069080" y="1979676"/>
            <a:ext cx="914" cy="6217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6" name="Shape 45"/>
          <p:cNvSpPr/>
          <p:nvPr/>
        </p:nvSpPr>
        <p:spPr>
          <a:xfrm>
            <a:off x="4562856" y="2930652"/>
            <a:ext cx="37490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 flipV="1">
            <a:off x="4937760" y="1979676"/>
            <a:ext cx="914" cy="95097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>
            <a:off x="5660136" y="1650492"/>
            <a:ext cx="30175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>
            <a:off x="6291072" y="1650492"/>
            <a:ext cx="30175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" name="Text 49"/>
          <p:cNvSpPr txBox="1"/>
          <p:nvPr/>
        </p:nvSpPr>
        <p:spPr>
          <a:xfrm>
            <a:off x="6336792" y="14676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7086600" y="1979676"/>
            <a:ext cx="914" cy="6217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2" name="Shape 51"/>
          <p:cNvSpPr/>
          <p:nvPr/>
        </p:nvSpPr>
        <p:spPr>
          <a:xfrm flipH="1">
            <a:off x="5394960" y="2930652"/>
            <a:ext cx="119786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 flipV="1">
            <a:off x="5394960" y="1979676"/>
            <a:ext cx="914" cy="95097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4" name="Shape 53"/>
          <p:cNvSpPr/>
          <p:nvPr/>
        </p:nvSpPr>
        <p:spPr>
          <a:xfrm flipV="1">
            <a:off x="6126480" y="1115568"/>
            <a:ext cx="914" cy="37033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6126480" y="1115568"/>
            <a:ext cx="23774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8503920" y="1115568"/>
            <a:ext cx="914" cy="4069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7" name="Text 56"/>
          <p:cNvSpPr txBox="1"/>
          <p:nvPr/>
        </p:nvSpPr>
        <p:spPr>
          <a:xfrm>
            <a:off x="6172200" y="11338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</a:t>
            </a:r>
            <a:endParaRPr lang="en-US" sz="900" dirty="0"/>
          </a:p>
        </p:txBody>
      </p:sp>
      <p:sp>
        <p:nvSpPr>
          <p:cNvPr id="68" name="a1_hl0"/>
          <p:cNvSpPr/>
          <p:nvPr/>
        </p:nvSpPr>
        <p:spPr>
          <a:xfrm>
            <a:off x="1188720" y="1266444"/>
            <a:ext cx="1097280" cy="2048256"/>
          </a:xfrm>
          <a:prstGeom prst="roundRect">
            <a:avLst>
              <a:gd name="adj" fmla="val 5000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69" name="a1_m0"/>
          <p:cNvSpPr/>
          <p:nvPr/>
        </p:nvSpPr>
        <p:spPr>
          <a:xfrm>
            <a:off x="2148840" y="1129284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0" name="a1_m0_n"/>
          <p:cNvSpPr txBox="1"/>
          <p:nvPr/>
        </p:nvSpPr>
        <p:spPr>
          <a:xfrm>
            <a:off x="2148840" y="11292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71" name="a1_lm"/>
          <p:cNvSpPr/>
          <p:nvPr/>
        </p:nvSpPr>
        <p:spPr>
          <a:xfrm>
            <a:off x="3566160" y="3749040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2" name="a1_lm_n"/>
          <p:cNvSpPr txBox="1"/>
          <p:nvPr/>
        </p:nvSpPr>
        <p:spPr>
          <a:xfrm>
            <a:off x="3566160" y="3749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a1_lt"/>
          <p:cNvSpPr txBox="1"/>
          <p:nvPr/>
        </p:nvSpPr>
        <p:spPr>
          <a:xfrm>
            <a:off x="3840480" y="3730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Размещение — запрос в зарубежном мессенджере и ручная настройка конвейера</a:t>
            </a:r>
            <a:endParaRPr lang="en-US" sz="1000" dirty="0"/>
          </a:p>
        </p:txBody>
      </p:sp>
      <p:sp>
        <p:nvSpPr>
          <p:cNvPr id="74" name="a2_hl0"/>
          <p:cNvSpPr/>
          <p:nvPr/>
        </p:nvSpPr>
        <p:spPr>
          <a:xfrm>
            <a:off x="3520440" y="1266444"/>
            <a:ext cx="1097280" cy="2048256"/>
          </a:xfrm>
          <a:prstGeom prst="roundRect">
            <a:avLst>
              <a:gd name="adj" fmla="val 5000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75" name="a2_m0"/>
          <p:cNvSpPr/>
          <p:nvPr/>
        </p:nvSpPr>
        <p:spPr>
          <a:xfrm>
            <a:off x="4480560" y="1129284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6" name="a2_m0_n"/>
          <p:cNvSpPr txBox="1"/>
          <p:nvPr/>
        </p:nvSpPr>
        <p:spPr>
          <a:xfrm>
            <a:off x="4480560" y="11292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77" name="a2_lm"/>
          <p:cNvSpPr/>
          <p:nvPr/>
        </p:nvSpPr>
        <p:spPr>
          <a:xfrm>
            <a:off x="6263640" y="3749040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8" name="a2_lm_n"/>
          <p:cNvSpPr txBox="1"/>
          <p:nvPr/>
        </p:nvSpPr>
        <p:spPr>
          <a:xfrm>
            <a:off x="6263640" y="3749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a2_lt"/>
          <p:cNvSpPr txBox="1"/>
          <p:nvPr/>
        </p:nvSpPr>
        <p:spPr>
          <a:xfrm>
            <a:off x="6537960" y="3730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Запуск экземпляра — только через инженера</a:t>
            </a:r>
            <a:endParaRPr lang="en-US" sz="1000" dirty="0"/>
          </a:p>
        </p:txBody>
      </p:sp>
      <p:sp>
        <p:nvSpPr>
          <p:cNvPr id="80" name="a3_hl0"/>
          <p:cNvSpPr/>
          <p:nvPr/>
        </p:nvSpPr>
        <p:spPr>
          <a:xfrm>
            <a:off x="4617720" y="1266444"/>
            <a:ext cx="1097280" cy="768096"/>
          </a:xfrm>
          <a:prstGeom prst="roundRect">
            <a:avLst>
              <a:gd name="adj" fmla="val 7143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81" name="a3_m0"/>
          <p:cNvSpPr/>
          <p:nvPr/>
        </p:nvSpPr>
        <p:spPr>
          <a:xfrm>
            <a:off x="5577840" y="1129284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2" name="a3_m0_n"/>
          <p:cNvSpPr txBox="1"/>
          <p:nvPr/>
        </p:nvSpPr>
        <p:spPr>
          <a:xfrm>
            <a:off x="5577840" y="11292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83" name="a3_lm"/>
          <p:cNvSpPr/>
          <p:nvPr/>
        </p:nvSpPr>
        <p:spPr>
          <a:xfrm>
            <a:off x="3566160" y="4251960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4" name="a3_lm_n"/>
          <p:cNvSpPr txBox="1"/>
          <p:nvPr/>
        </p:nvSpPr>
        <p:spPr>
          <a:xfrm>
            <a:off x="3566160" y="4251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85" name="a3_lt"/>
          <p:cNvSpPr txBox="1"/>
          <p:nvPr/>
        </p:nvSpPr>
        <p:spPr>
          <a:xfrm>
            <a:off x="3840480" y="4233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Журналы сервера разработчику недоступны</a:t>
            </a:r>
            <a:endParaRPr lang="en-US" sz="1000" dirty="0"/>
          </a:p>
        </p:txBody>
      </p:sp>
      <p:sp>
        <p:nvSpPr>
          <p:cNvPr id="86" name="a4_hl0"/>
          <p:cNvSpPr/>
          <p:nvPr/>
        </p:nvSpPr>
        <p:spPr>
          <a:xfrm>
            <a:off x="6537960" y="1266444"/>
            <a:ext cx="1097280" cy="2048256"/>
          </a:xfrm>
          <a:prstGeom prst="roundRect">
            <a:avLst>
              <a:gd name="adj" fmla="val 5000"/>
            </a:avLst>
          </a:prstGeom>
          <a:ln w="25400">
            <a:solidFill>
              <a:srgbClr val="C62828"/>
            </a:solidFill>
            <a:prstDash val="dash"/>
          </a:ln>
        </p:spPr>
      </p:sp>
      <p:sp>
        <p:nvSpPr>
          <p:cNvPr id="87" name="a4_m0"/>
          <p:cNvSpPr/>
          <p:nvPr/>
        </p:nvSpPr>
        <p:spPr>
          <a:xfrm>
            <a:off x="7498080" y="1129284"/>
            <a:ext cx="237744" cy="237744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8" name="a4_m0_n"/>
          <p:cNvSpPr txBox="1"/>
          <p:nvPr/>
        </p:nvSpPr>
        <p:spPr>
          <a:xfrm>
            <a:off x="7498080" y="11292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89" name="a4_lm"/>
          <p:cNvSpPr/>
          <p:nvPr/>
        </p:nvSpPr>
        <p:spPr>
          <a:xfrm>
            <a:off x="6263640" y="4251960"/>
            <a:ext cx="219456" cy="21945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0" name="a4_lm_n"/>
          <p:cNvSpPr txBox="1"/>
          <p:nvPr/>
        </p:nvSpPr>
        <p:spPr>
          <a:xfrm>
            <a:off x="6263640" y="4251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91" name="a4_lt"/>
          <p:cNvSpPr txBox="1"/>
          <p:nvPr/>
        </p:nvSpPr>
        <p:spPr>
          <a:xfrm>
            <a:off x="6537960" y="4233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Любое действие с сервером — снова через инженера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ПРОЦЕССА «КАК БУДЕТ»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Публикация и обновление игры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11887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87552"/>
            <a:ext cx="0" cy="118872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 rot="16200000">
            <a:off x="-128016" y="1389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Разработчик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76272"/>
            <a:ext cx="8595360" cy="132588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76272"/>
            <a:ext cx="0" cy="1325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-196596" y="26471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02152"/>
            <a:ext cx="8595360" cy="128016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02152"/>
            <a:ext cx="0" cy="128016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 rot="16200000">
            <a:off x="-173736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Модератор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134416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1618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Игра готова к публикации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1170432"/>
            <a:ext cx="914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0" descr="img/icon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202436"/>
            <a:ext cx="109728" cy="10972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08176" y="1289304"/>
            <a:ext cx="8412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Заполнить черновик игры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371600" y="2263140"/>
            <a:ext cx="914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9" name="Image 1" descr="img/icon-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2295144"/>
            <a:ext cx="109728" cy="10972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408176" y="2382012"/>
            <a:ext cx="8412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Подготовить сборку к проверке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423160" y="1170432"/>
            <a:ext cx="914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2" descr="img/icon-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1202436"/>
            <a:ext cx="109728" cy="1097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459736" y="1289304"/>
            <a:ext cx="8412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Проверить игру в песочнице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429000" y="1170432"/>
            <a:ext cx="914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5" name="Image 3" descr="img/icon-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202436"/>
            <a:ext cx="109728" cy="10972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465576" y="1289304"/>
            <a:ext cx="8412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Отправить на модерацию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374136" y="2272284"/>
            <a:ext cx="1024128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8" name="Image 4" descr="img/icon-serv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304288"/>
            <a:ext cx="109728" cy="10972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410712" y="2391156"/>
            <a:ext cx="950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Сохранить аудит-снимок, поставить в очередь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389120" y="3657600"/>
            <a:ext cx="914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1" name="Image 5" descr="img/icon-u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3689604"/>
            <a:ext cx="109728" cy="10972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425696" y="3776472"/>
            <a:ext cx="8412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Проверить игру по аудит-снимку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5596128" y="3794760"/>
            <a:ext cx="329184" cy="32918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5596128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2000" dirty="0"/>
          </a:p>
        </p:txBody>
      </p:sp>
      <p:sp>
        <p:nvSpPr>
          <p:cNvPr id="35" name="Text 27"/>
          <p:cNvSpPr txBox="1"/>
          <p:nvPr/>
        </p:nvSpPr>
        <p:spPr>
          <a:xfrm>
            <a:off x="5120640" y="4142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Соответствует требованиям?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303520" y="1170432"/>
            <a:ext cx="914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7" name="Image 6" descr="img/icon-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6" y="1202436"/>
            <a:ext cx="109728" cy="1097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340096" y="1289304"/>
            <a:ext cx="8412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Доработать по замечаниям из чата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172200" y="2263140"/>
            <a:ext cx="914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0" name="Image 7" descr="img/icon-serv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2295144"/>
            <a:ext cx="109728" cy="10972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208776" y="2382012"/>
            <a:ext cx="8412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Опубликовать версию в каталоге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7141464" y="2436876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6858000" y="27111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Игра опубликована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7141464" y="303123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200900" y="3090672"/>
            <a:ext cx="137160" cy="137160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 flipV="1">
            <a:off x="7269480" y="3108960"/>
            <a:ext cx="914" cy="5029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7269480" y="3159252"/>
            <a:ext cx="36576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6949440" y="33055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Ежедневно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7772400" y="293065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0" name="Image 8" descr="img/icon-servi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8976" y="2962656"/>
            <a:ext cx="109728" cy="109728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808976" y="304952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Обновить статистику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7772400" y="1170432"/>
            <a:ext cx="822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3" name="Image 9" descr="img/icon-us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8976" y="1202436"/>
            <a:ext cx="109728" cy="109728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7808976" y="1289304"/>
            <a:ext cx="7498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Просмотреть статистику</a:t>
            </a:r>
            <a:endParaRPr lang="en-US" sz="950" dirty="0"/>
          </a:p>
        </p:txBody>
      </p:sp>
      <p:sp>
        <p:nvSpPr>
          <p:cNvPr id="55" name="Shape 43"/>
          <p:cNvSpPr/>
          <p:nvPr/>
        </p:nvSpPr>
        <p:spPr>
          <a:xfrm>
            <a:off x="8558784" y="1801368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7498080" y="18288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Статистика изучена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950976" y="1472184"/>
            <a:ext cx="42062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1828800" y="1773936"/>
            <a:ext cx="914" cy="4892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9" name="Shape 47"/>
          <p:cNvSpPr/>
          <p:nvPr/>
        </p:nvSpPr>
        <p:spPr>
          <a:xfrm>
            <a:off x="2286000" y="2564892"/>
            <a:ext cx="59436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 flipV="1">
            <a:off x="2880360" y="1773936"/>
            <a:ext cx="914" cy="79095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3337560" y="1472184"/>
            <a:ext cx="914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2" name="Shape 50"/>
          <p:cNvSpPr/>
          <p:nvPr/>
        </p:nvSpPr>
        <p:spPr>
          <a:xfrm>
            <a:off x="3886200" y="1773936"/>
            <a:ext cx="914" cy="49834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3" name="Shape 51"/>
          <p:cNvSpPr/>
          <p:nvPr/>
        </p:nvSpPr>
        <p:spPr>
          <a:xfrm>
            <a:off x="4398264" y="2592324"/>
            <a:ext cx="448056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4846320" y="2592324"/>
            <a:ext cx="914" cy="106527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5" name="Shape 53"/>
          <p:cNvSpPr/>
          <p:nvPr/>
        </p:nvSpPr>
        <p:spPr>
          <a:xfrm>
            <a:off x="5303520" y="3959352"/>
            <a:ext cx="29260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6" name="Shape 54"/>
          <p:cNvSpPr/>
          <p:nvPr/>
        </p:nvSpPr>
        <p:spPr>
          <a:xfrm flipV="1">
            <a:off x="5760720" y="1773936"/>
            <a:ext cx="914" cy="202082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7" name="Text 55"/>
          <p:cNvSpPr txBox="1"/>
          <p:nvPr/>
        </p:nvSpPr>
        <p:spPr>
          <a:xfrm>
            <a:off x="5806440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</a:t>
            </a:r>
            <a:endParaRPr lang="en-US" sz="900" dirty="0"/>
          </a:p>
        </p:txBody>
      </p:sp>
      <p:sp>
        <p:nvSpPr>
          <p:cNvPr id="68" name="Shape 56"/>
          <p:cNvSpPr/>
          <p:nvPr/>
        </p:nvSpPr>
        <p:spPr>
          <a:xfrm flipV="1">
            <a:off x="5760720" y="1097280"/>
            <a:ext cx="914" cy="73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 flipH="1">
            <a:off x="1828800" y="1097280"/>
            <a:ext cx="393192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1828800" y="1097280"/>
            <a:ext cx="914" cy="73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1" name="Shape 59"/>
          <p:cNvSpPr/>
          <p:nvPr/>
        </p:nvSpPr>
        <p:spPr>
          <a:xfrm>
            <a:off x="5925312" y="3959352"/>
            <a:ext cx="70408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60"/>
          <p:cNvSpPr/>
          <p:nvPr/>
        </p:nvSpPr>
        <p:spPr>
          <a:xfrm flipV="1">
            <a:off x="6629400" y="2866644"/>
            <a:ext cx="914" cy="10927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3" name="Text 61"/>
          <p:cNvSpPr txBox="1"/>
          <p:nvPr/>
        </p:nvSpPr>
        <p:spPr>
          <a:xfrm>
            <a:off x="5961888" y="3776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</a:t>
            </a:r>
            <a:endParaRPr lang="en-US" sz="900" dirty="0"/>
          </a:p>
        </p:txBody>
      </p:sp>
      <p:sp>
        <p:nvSpPr>
          <p:cNvPr id="74" name="Shape 62"/>
          <p:cNvSpPr/>
          <p:nvPr/>
        </p:nvSpPr>
        <p:spPr>
          <a:xfrm>
            <a:off x="7086600" y="2564892"/>
            <a:ext cx="5486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5" name="Shape 63"/>
          <p:cNvSpPr/>
          <p:nvPr/>
        </p:nvSpPr>
        <p:spPr>
          <a:xfrm>
            <a:off x="7397496" y="3159252"/>
            <a:ext cx="37490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6" name="Shape 64"/>
          <p:cNvSpPr/>
          <p:nvPr/>
        </p:nvSpPr>
        <p:spPr>
          <a:xfrm flipV="1">
            <a:off x="8183880" y="1773936"/>
            <a:ext cx="914" cy="115671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7" name="Shape 65"/>
          <p:cNvSpPr/>
          <p:nvPr/>
        </p:nvSpPr>
        <p:spPr>
          <a:xfrm>
            <a:off x="8595360" y="1472184"/>
            <a:ext cx="914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>
            <a:off x="8686800" y="1472184"/>
            <a:ext cx="914" cy="32918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9" name="a1_hl0"/>
          <p:cNvSpPr/>
          <p:nvPr/>
        </p:nvSpPr>
        <p:spPr>
          <a:xfrm>
            <a:off x="1316736" y="1115568"/>
            <a:ext cx="1024128" cy="713232"/>
          </a:xfrm>
          <a:prstGeom prst="roundRect">
            <a:avLst>
              <a:gd name="adj" fmla="val 7692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80" name="a1_m0"/>
          <p:cNvSpPr/>
          <p:nvPr/>
        </p:nvSpPr>
        <p:spPr>
          <a:xfrm>
            <a:off x="2203704" y="978408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1" name="a1_m0_n"/>
          <p:cNvSpPr txBox="1"/>
          <p:nvPr/>
        </p:nvSpPr>
        <p:spPr>
          <a:xfrm>
            <a:off x="2203704" y="978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2" name="a1_lm"/>
          <p:cNvSpPr/>
          <p:nvPr/>
        </p:nvSpPr>
        <p:spPr>
          <a:xfrm>
            <a:off x="731520" y="3035808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3" name="a1_lm_n"/>
          <p:cNvSpPr txBox="1"/>
          <p:nvPr/>
        </p:nvSpPr>
        <p:spPr>
          <a:xfrm>
            <a:off x="731520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4" name="a1_lt"/>
          <p:cNvSpPr txBox="1"/>
          <p:nvPr/>
        </p:nvSpPr>
        <p:spPr>
          <a:xfrm>
            <a:off x="1005840" y="30175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Черновик ведёт команда с разграничением прав</a:t>
            </a:r>
            <a:endParaRPr lang="en-US" sz="1000" dirty="0"/>
          </a:p>
        </p:txBody>
      </p:sp>
      <p:sp>
        <p:nvSpPr>
          <p:cNvPr id="85" name="a2_hl0"/>
          <p:cNvSpPr/>
          <p:nvPr/>
        </p:nvSpPr>
        <p:spPr>
          <a:xfrm>
            <a:off x="2368296" y="1115568"/>
            <a:ext cx="1024128" cy="713232"/>
          </a:xfrm>
          <a:prstGeom prst="roundRect">
            <a:avLst>
              <a:gd name="adj" fmla="val 7692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86" name="a2_m0"/>
          <p:cNvSpPr/>
          <p:nvPr/>
        </p:nvSpPr>
        <p:spPr>
          <a:xfrm>
            <a:off x="3255264" y="978408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7" name="a2_m0_n"/>
          <p:cNvSpPr txBox="1"/>
          <p:nvPr/>
        </p:nvSpPr>
        <p:spPr>
          <a:xfrm>
            <a:off x="3255264" y="978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88" name="a2_lm"/>
          <p:cNvSpPr/>
          <p:nvPr/>
        </p:nvSpPr>
        <p:spPr>
          <a:xfrm>
            <a:off x="3017520" y="3035808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9" name="a2_lm_n"/>
          <p:cNvSpPr txBox="1"/>
          <p:nvPr/>
        </p:nvSpPr>
        <p:spPr>
          <a:xfrm>
            <a:off x="3017520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90" name="a2_lt"/>
          <p:cNvSpPr txBox="1"/>
          <p:nvPr/>
        </p:nvSpPr>
        <p:spPr>
          <a:xfrm>
            <a:off x="329184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в песочнице, без инженера</a:t>
            </a:r>
            <a:endParaRPr lang="en-US" sz="1000" dirty="0"/>
          </a:p>
        </p:txBody>
      </p:sp>
      <p:sp>
        <p:nvSpPr>
          <p:cNvPr id="91" name="a3_hl0"/>
          <p:cNvSpPr/>
          <p:nvPr/>
        </p:nvSpPr>
        <p:spPr>
          <a:xfrm>
            <a:off x="3319272" y="2217420"/>
            <a:ext cx="1133856" cy="749808"/>
          </a:xfrm>
          <a:prstGeom prst="roundRect">
            <a:avLst>
              <a:gd name="adj" fmla="val 7317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92" name="a3_m0"/>
          <p:cNvSpPr/>
          <p:nvPr/>
        </p:nvSpPr>
        <p:spPr>
          <a:xfrm>
            <a:off x="4315968" y="2080260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3" name="a3_m0_n"/>
          <p:cNvSpPr txBox="1"/>
          <p:nvPr/>
        </p:nvSpPr>
        <p:spPr>
          <a:xfrm>
            <a:off x="4315968" y="20802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94" name="a3_hl1"/>
          <p:cNvSpPr/>
          <p:nvPr/>
        </p:nvSpPr>
        <p:spPr>
          <a:xfrm>
            <a:off x="4334256" y="3602736"/>
            <a:ext cx="1024128" cy="713232"/>
          </a:xfrm>
          <a:prstGeom prst="roundRect">
            <a:avLst>
              <a:gd name="adj" fmla="val 7692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95" name="a3_m1"/>
          <p:cNvSpPr/>
          <p:nvPr/>
        </p:nvSpPr>
        <p:spPr>
          <a:xfrm>
            <a:off x="5221224" y="3465576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6" name="a3_m1_n"/>
          <p:cNvSpPr txBox="1"/>
          <p:nvPr/>
        </p:nvSpPr>
        <p:spPr>
          <a:xfrm>
            <a:off x="5221224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97" name="a3_lm"/>
          <p:cNvSpPr/>
          <p:nvPr/>
        </p:nvSpPr>
        <p:spPr>
          <a:xfrm>
            <a:off x="731520" y="4023360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8" name="a3_lm_n"/>
          <p:cNvSpPr txBox="1"/>
          <p:nvPr/>
        </p:nvSpPr>
        <p:spPr>
          <a:xfrm>
            <a:off x="731520" y="4023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99" name="a3_lt"/>
          <p:cNvSpPr txBox="1"/>
          <p:nvPr/>
        </p:nvSpPr>
        <p:spPr>
          <a:xfrm>
            <a:off x="1005840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Заявка с аудит-снимком попадает в очередь модерации</a:t>
            </a:r>
            <a:endParaRPr lang="en-US" sz="1000" dirty="0"/>
          </a:p>
        </p:txBody>
      </p:sp>
      <p:sp>
        <p:nvSpPr>
          <p:cNvPr id="100" name="a4_hl0"/>
          <p:cNvSpPr/>
          <p:nvPr/>
        </p:nvSpPr>
        <p:spPr>
          <a:xfrm>
            <a:off x="5248656" y="1115568"/>
            <a:ext cx="1024128" cy="713232"/>
          </a:xfrm>
          <a:prstGeom prst="roundRect">
            <a:avLst>
              <a:gd name="adj" fmla="val 7692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01" name="a4_m0"/>
          <p:cNvSpPr/>
          <p:nvPr/>
        </p:nvSpPr>
        <p:spPr>
          <a:xfrm>
            <a:off x="6135624" y="978408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2" name="a4_m0_n"/>
          <p:cNvSpPr txBox="1"/>
          <p:nvPr/>
        </p:nvSpPr>
        <p:spPr>
          <a:xfrm>
            <a:off x="6135624" y="978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03" name="a4_lm"/>
          <p:cNvSpPr/>
          <p:nvPr/>
        </p:nvSpPr>
        <p:spPr>
          <a:xfrm>
            <a:off x="6355080" y="3630168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4" name="a4_lm_n"/>
          <p:cNvSpPr txBox="1"/>
          <p:nvPr/>
        </p:nvSpPr>
        <p:spPr>
          <a:xfrm>
            <a:off x="6355080" y="3630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05" name="a4_lt"/>
          <p:cNvSpPr txBox="1"/>
          <p:nvPr/>
        </p:nvSpPr>
        <p:spPr>
          <a:xfrm>
            <a:off x="6629400" y="3611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Замечания и вердикт — в сквозном чате проекта</a:t>
            </a:r>
            <a:endParaRPr lang="en-US" sz="1000" dirty="0"/>
          </a:p>
        </p:txBody>
      </p:sp>
      <p:sp>
        <p:nvSpPr>
          <p:cNvPr id="106" name="a5_hl0"/>
          <p:cNvSpPr/>
          <p:nvPr/>
        </p:nvSpPr>
        <p:spPr>
          <a:xfrm>
            <a:off x="6117336" y="2208276"/>
            <a:ext cx="1024128" cy="713232"/>
          </a:xfrm>
          <a:prstGeom prst="roundRect">
            <a:avLst>
              <a:gd name="adj" fmla="val 7692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07" name="a5_m0"/>
          <p:cNvSpPr/>
          <p:nvPr/>
        </p:nvSpPr>
        <p:spPr>
          <a:xfrm>
            <a:off x="7004304" y="2071116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8" name="a5_m0_n"/>
          <p:cNvSpPr txBox="1"/>
          <p:nvPr/>
        </p:nvSpPr>
        <p:spPr>
          <a:xfrm>
            <a:off x="7004304" y="20711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109" name="a5_hl1"/>
          <p:cNvSpPr/>
          <p:nvPr/>
        </p:nvSpPr>
        <p:spPr>
          <a:xfrm>
            <a:off x="7717536" y="2875788"/>
            <a:ext cx="932688" cy="566928"/>
          </a:xfrm>
          <a:prstGeom prst="roundRect">
            <a:avLst>
              <a:gd name="adj" fmla="val 9677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10" name="a5_m1"/>
          <p:cNvSpPr/>
          <p:nvPr/>
        </p:nvSpPr>
        <p:spPr>
          <a:xfrm>
            <a:off x="8513064" y="2738628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1" name="a5_m1_n"/>
          <p:cNvSpPr txBox="1"/>
          <p:nvPr/>
        </p:nvSpPr>
        <p:spPr>
          <a:xfrm>
            <a:off x="8513064" y="27386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112" name="a5_lm"/>
          <p:cNvSpPr/>
          <p:nvPr/>
        </p:nvSpPr>
        <p:spPr>
          <a:xfrm>
            <a:off x="6355080" y="4087368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3" name="a5_lm_n"/>
          <p:cNvSpPr txBox="1"/>
          <p:nvPr/>
        </p:nvSpPr>
        <p:spPr>
          <a:xfrm>
            <a:off x="6355080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114" name="a5_lt"/>
          <p:cNvSpPr txBox="1"/>
          <p:nvPr/>
        </p:nvSpPr>
        <p:spPr>
          <a:xfrm>
            <a:off x="6629400" y="4069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Публикация без инженера, статистика — ежедневно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ПРОЦЕССА «КАК БУДЕТ»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5C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Управление игровыми серверами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1161288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87552"/>
            <a:ext cx="0" cy="116128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 rot="16200000">
            <a:off x="-114300" y="1376172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Разработчик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8595360" cy="54864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48840"/>
            <a:ext cx="0" cy="54864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192024" y="22311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Модератор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8595360" cy="208483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97480"/>
            <a:ext cx="0" cy="20848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 rot="16200000">
            <a:off x="-576072" y="35478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121158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14859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Нужен игровой сервер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1083564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0" descr="img/icon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1115568"/>
            <a:ext cx="109728" cy="10972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25296" y="1202436"/>
            <a:ext cx="841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Загрузить серверную сборку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58568" y="1175004"/>
            <a:ext cx="329184" cy="32918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58568" y="11567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874520" y="9921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Свой сервер?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88920" y="1083564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1" descr="img/icon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1115568"/>
            <a:ext cx="109728" cy="10972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825496" y="1202436"/>
            <a:ext cx="841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Подключить свой узел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788920" y="1613916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5" name="Image 2" descr="img/icon-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1645920"/>
            <a:ext cx="109728" cy="10972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825496" y="1732788"/>
            <a:ext cx="841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Запросить серверы платформы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749040" y="2167128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8" name="Image 3" descr="img/icon-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2199132"/>
            <a:ext cx="109728" cy="10972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785616" y="2286000"/>
            <a:ext cx="841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Одобрить доступ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818888" y="1175004"/>
            <a:ext cx="329184" cy="32918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818888" y="11567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5303520" y="1083564"/>
            <a:ext cx="9144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3" name="Image 4" descr="img/icon-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1115568"/>
            <a:ext cx="109728" cy="10972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340096" y="1202436"/>
            <a:ext cx="841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Настроить политику оркестрации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950976" y="1339596"/>
            <a:ext cx="237744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2103120" y="1339596"/>
            <a:ext cx="15544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2587752" y="1339596"/>
            <a:ext cx="20116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Text 31"/>
          <p:cNvSpPr txBox="1"/>
          <p:nvPr/>
        </p:nvSpPr>
        <p:spPr>
          <a:xfrm>
            <a:off x="2615184" y="13395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2423160" y="1504188"/>
            <a:ext cx="914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423160" y="1869948"/>
            <a:ext cx="36576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Text 34"/>
          <p:cNvSpPr txBox="1"/>
          <p:nvPr/>
        </p:nvSpPr>
        <p:spPr>
          <a:xfrm>
            <a:off x="2468880" y="16413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703320" y="1869948"/>
            <a:ext cx="50292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206240" y="1869948"/>
            <a:ext cx="914" cy="2971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3703320" y="1339596"/>
            <a:ext cx="111556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4663440" y="2423160"/>
            <a:ext cx="3200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 flipV="1">
            <a:off x="4983480" y="1504188"/>
            <a:ext cx="914" cy="91897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Shape 40"/>
          <p:cNvSpPr/>
          <p:nvPr/>
        </p:nvSpPr>
        <p:spPr>
          <a:xfrm>
            <a:off x="5148072" y="1339596"/>
            <a:ext cx="15544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777240" y="2770632"/>
            <a:ext cx="79552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86968" y="2807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Обслуживание серверов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760720" y="1595628"/>
            <a:ext cx="914" cy="11750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1" name="Shape 44"/>
          <p:cNvSpPr/>
          <p:nvPr/>
        </p:nvSpPr>
        <p:spPr>
          <a:xfrm>
            <a:off x="987552" y="311810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1531620" y="3026664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3" name="Image 5" descr="img/icon-serv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196" y="3058668"/>
            <a:ext cx="109728" cy="109728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568196" y="3145536"/>
            <a:ext cx="1069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Запустить экземпляры по политике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2990088" y="310896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3022092" y="3140964"/>
            <a:ext cx="173736" cy="17373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3054096" y="3191256"/>
            <a:ext cx="109728" cy="731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3054096" y="3191256"/>
            <a:ext cx="54864" cy="4114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 flipV="1">
            <a:off x="3108960" y="3191256"/>
            <a:ext cx="54864" cy="4114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2697480" y="3364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 игрока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3767328" y="3063240"/>
            <a:ext cx="329184" cy="32918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3767328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2000" dirty="0"/>
          </a:p>
        </p:txBody>
      </p:sp>
      <p:sp>
        <p:nvSpPr>
          <p:cNvPr id="63" name="Text 55"/>
          <p:cNvSpPr txBox="1"/>
          <p:nvPr/>
        </p:nvSpPr>
        <p:spPr>
          <a:xfrm>
            <a:off x="3246120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Есть свободное место?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4640580" y="3026664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5" name="Image 6" descr="img/icon-servi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156" y="3058668"/>
            <a:ext cx="109728" cy="109728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4677156" y="3145536"/>
            <a:ext cx="1069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Выдать адрес экземпляра</a:t>
            </a:r>
            <a:endParaRPr lang="en-US" sz="900" dirty="0"/>
          </a:p>
        </p:txBody>
      </p:sp>
      <p:sp>
        <p:nvSpPr>
          <p:cNvPr id="67" name="Shape 58"/>
          <p:cNvSpPr/>
          <p:nvPr/>
        </p:nvSpPr>
        <p:spPr>
          <a:xfrm>
            <a:off x="6336792" y="3118104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6012180" y="3355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Игрок подключён</a:t>
            </a:r>
            <a:endParaRPr lang="en-US" sz="900" dirty="0"/>
          </a:p>
        </p:txBody>
      </p:sp>
      <p:sp>
        <p:nvSpPr>
          <p:cNvPr id="69" name="Shape 60"/>
          <p:cNvSpPr/>
          <p:nvPr/>
        </p:nvSpPr>
        <p:spPr>
          <a:xfrm>
            <a:off x="4480560" y="3483864"/>
            <a:ext cx="14630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0" name="Image 7" descr="img/icon-serv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136" y="3515868"/>
            <a:ext cx="109728" cy="109728"/>
          </a:xfrm>
          <a:prstGeom prst="rect">
            <a:avLst/>
          </a:prstGeom>
        </p:spPr>
      </p:pic>
      <p:sp>
        <p:nvSpPr>
          <p:cNvPr id="71" name="Text 61"/>
          <p:cNvSpPr txBox="1"/>
          <p:nvPr/>
        </p:nvSpPr>
        <p:spPr>
          <a:xfrm>
            <a:off x="4517136" y="3602736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Запустить новый экземпляр или поставить в очередь</a:t>
            </a:r>
            <a:endParaRPr lang="en-US" sz="900" dirty="0"/>
          </a:p>
        </p:txBody>
      </p:sp>
      <p:sp>
        <p:nvSpPr>
          <p:cNvPr id="72" name="Shape 62"/>
          <p:cNvSpPr/>
          <p:nvPr/>
        </p:nvSpPr>
        <p:spPr>
          <a:xfrm>
            <a:off x="1207008" y="3227832"/>
            <a:ext cx="32461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3" name="Shape 63"/>
          <p:cNvSpPr/>
          <p:nvPr/>
        </p:nvSpPr>
        <p:spPr>
          <a:xfrm>
            <a:off x="2674620" y="3227832"/>
            <a:ext cx="31546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4" name="Shape 64"/>
          <p:cNvSpPr/>
          <p:nvPr/>
        </p:nvSpPr>
        <p:spPr>
          <a:xfrm>
            <a:off x="3227832" y="3227832"/>
            <a:ext cx="539496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5" name="Shape 65"/>
          <p:cNvSpPr/>
          <p:nvPr/>
        </p:nvSpPr>
        <p:spPr>
          <a:xfrm>
            <a:off x="4096512" y="3227832"/>
            <a:ext cx="544068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6" name="Text 66"/>
          <p:cNvSpPr txBox="1"/>
          <p:nvPr/>
        </p:nvSpPr>
        <p:spPr>
          <a:xfrm>
            <a:off x="4133088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</a:t>
            </a:r>
            <a:endParaRPr lang="en-US" sz="900" dirty="0"/>
          </a:p>
        </p:txBody>
      </p:sp>
      <p:sp>
        <p:nvSpPr>
          <p:cNvPr id="77" name="Shape 67"/>
          <p:cNvSpPr/>
          <p:nvPr/>
        </p:nvSpPr>
        <p:spPr>
          <a:xfrm>
            <a:off x="5783580" y="3227832"/>
            <a:ext cx="55321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8" name="Shape 68"/>
          <p:cNvSpPr/>
          <p:nvPr/>
        </p:nvSpPr>
        <p:spPr>
          <a:xfrm>
            <a:off x="3931920" y="3392424"/>
            <a:ext cx="914" cy="2926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3931920" y="3685032"/>
            <a:ext cx="5486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0" name="Text 70"/>
          <p:cNvSpPr txBox="1"/>
          <p:nvPr/>
        </p:nvSpPr>
        <p:spPr>
          <a:xfrm>
            <a:off x="3977640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</a:t>
            </a:r>
            <a:endParaRPr lang="en-US" sz="900" dirty="0"/>
          </a:p>
        </p:txBody>
      </p:sp>
      <p:sp>
        <p:nvSpPr>
          <p:cNvPr id="81" name="Shape 71"/>
          <p:cNvSpPr/>
          <p:nvPr/>
        </p:nvSpPr>
        <p:spPr>
          <a:xfrm flipV="1">
            <a:off x="5212080" y="3429000"/>
            <a:ext cx="914" cy="5486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2" name="Shape 72"/>
          <p:cNvSpPr/>
          <p:nvPr/>
        </p:nvSpPr>
        <p:spPr>
          <a:xfrm>
            <a:off x="1435608" y="38587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83" name="Shape 73"/>
          <p:cNvSpPr/>
          <p:nvPr/>
        </p:nvSpPr>
        <p:spPr>
          <a:xfrm>
            <a:off x="1467612" y="3890772"/>
            <a:ext cx="173736" cy="173736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84" name="Shape 74"/>
          <p:cNvSpPr/>
          <p:nvPr/>
        </p:nvSpPr>
        <p:spPr>
          <a:xfrm>
            <a:off x="1513332" y="3922776"/>
            <a:ext cx="82296" cy="109728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1528877" y="3950208"/>
            <a:ext cx="51206" cy="914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6" name="Shape 76"/>
          <p:cNvSpPr/>
          <p:nvPr/>
        </p:nvSpPr>
        <p:spPr>
          <a:xfrm>
            <a:off x="1528877" y="3977640"/>
            <a:ext cx="51206" cy="914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1528877" y="4005072"/>
            <a:ext cx="51206" cy="914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960120" y="4160520"/>
            <a:ext cx="1188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9" name="Image 8" descr="img/icon-servi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" y="4192524"/>
            <a:ext cx="109728" cy="109728"/>
          </a:xfrm>
          <a:prstGeom prst="rect">
            <a:avLst/>
          </a:prstGeom>
        </p:spPr>
      </p:pic>
      <p:sp>
        <p:nvSpPr>
          <p:cNvPr id="90" name="Text 79"/>
          <p:cNvSpPr txBox="1"/>
          <p:nvPr/>
        </p:nvSpPr>
        <p:spPr>
          <a:xfrm>
            <a:off x="996696" y="4279392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Перезапустить экземпляр</a:t>
            </a:r>
            <a:endParaRPr lang="en-US" sz="900" dirty="0"/>
          </a:p>
        </p:txBody>
      </p:sp>
      <p:sp>
        <p:nvSpPr>
          <p:cNvPr id="91" name="Shape 80"/>
          <p:cNvSpPr/>
          <p:nvPr/>
        </p:nvSpPr>
        <p:spPr>
          <a:xfrm>
            <a:off x="2313432" y="42519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1554480" y="4096512"/>
            <a:ext cx="914" cy="640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3" name="Shape 82"/>
          <p:cNvSpPr/>
          <p:nvPr/>
        </p:nvSpPr>
        <p:spPr>
          <a:xfrm>
            <a:off x="2148840" y="4361688"/>
            <a:ext cx="16459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4" name="Text 83"/>
          <p:cNvSpPr txBox="1"/>
          <p:nvPr/>
        </p:nvSpPr>
        <p:spPr>
          <a:xfrm>
            <a:off x="960120" y="4581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Сбой экземпляра</a:t>
            </a:r>
            <a:endParaRPr lang="en-US" sz="900" dirty="0"/>
          </a:p>
        </p:txBody>
      </p:sp>
      <p:sp>
        <p:nvSpPr>
          <p:cNvPr id="95" name="Shape 84"/>
          <p:cNvSpPr/>
          <p:nvPr/>
        </p:nvSpPr>
        <p:spPr>
          <a:xfrm>
            <a:off x="3401568" y="38587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96" name="Shape 85"/>
          <p:cNvSpPr/>
          <p:nvPr/>
        </p:nvSpPr>
        <p:spPr>
          <a:xfrm>
            <a:off x="3433572" y="3890772"/>
            <a:ext cx="173736" cy="173736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97" name="Shape 86"/>
          <p:cNvSpPr/>
          <p:nvPr/>
        </p:nvSpPr>
        <p:spPr>
          <a:xfrm>
            <a:off x="3451860" y="3909060"/>
            <a:ext cx="137160" cy="137160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8" name="Shape 87"/>
          <p:cNvSpPr/>
          <p:nvPr/>
        </p:nvSpPr>
        <p:spPr>
          <a:xfrm flipV="1">
            <a:off x="3520440" y="3927348"/>
            <a:ext cx="914" cy="5029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9" name="Shape 88"/>
          <p:cNvSpPr/>
          <p:nvPr/>
        </p:nvSpPr>
        <p:spPr>
          <a:xfrm>
            <a:off x="3520440" y="3977640"/>
            <a:ext cx="36576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0" name="Shape 89"/>
          <p:cNvSpPr/>
          <p:nvPr/>
        </p:nvSpPr>
        <p:spPr>
          <a:xfrm>
            <a:off x="2926080" y="4160520"/>
            <a:ext cx="1188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01" name="Image 9" descr="img/icon-servic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2656" y="4192524"/>
            <a:ext cx="109728" cy="109728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2962656" y="4279392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Остановить экземпляр</a:t>
            </a:r>
            <a:endParaRPr lang="en-US" sz="900" dirty="0"/>
          </a:p>
        </p:txBody>
      </p:sp>
      <p:sp>
        <p:nvSpPr>
          <p:cNvPr id="103" name="Shape 91"/>
          <p:cNvSpPr/>
          <p:nvPr/>
        </p:nvSpPr>
        <p:spPr>
          <a:xfrm>
            <a:off x="4279392" y="42519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3520440" y="4096512"/>
            <a:ext cx="914" cy="640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5" name="Shape 93"/>
          <p:cNvSpPr/>
          <p:nvPr/>
        </p:nvSpPr>
        <p:spPr>
          <a:xfrm>
            <a:off x="4114800" y="4361688"/>
            <a:ext cx="16459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6" name="Text 94"/>
          <p:cNvSpPr txBox="1"/>
          <p:nvPr/>
        </p:nvSpPr>
        <p:spPr>
          <a:xfrm>
            <a:off x="2926080" y="4581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Простой экземпляра</a:t>
            </a:r>
            <a:endParaRPr lang="en-US" sz="900" dirty="0"/>
          </a:p>
        </p:txBody>
      </p:sp>
      <p:sp>
        <p:nvSpPr>
          <p:cNvPr id="107" name="Shape 95"/>
          <p:cNvSpPr/>
          <p:nvPr/>
        </p:nvSpPr>
        <p:spPr>
          <a:xfrm>
            <a:off x="6053328" y="38587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08" name="Shape 96"/>
          <p:cNvSpPr/>
          <p:nvPr/>
        </p:nvSpPr>
        <p:spPr>
          <a:xfrm>
            <a:off x="6085332" y="3890772"/>
            <a:ext cx="173736" cy="173736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109" name="Shape 97"/>
          <p:cNvSpPr/>
          <p:nvPr/>
        </p:nvSpPr>
        <p:spPr>
          <a:xfrm>
            <a:off x="6117336" y="3941064"/>
            <a:ext cx="109728" cy="731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0" name="Shape 98"/>
          <p:cNvSpPr/>
          <p:nvPr/>
        </p:nvSpPr>
        <p:spPr>
          <a:xfrm>
            <a:off x="6117336" y="3941064"/>
            <a:ext cx="54864" cy="4114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1" name="Shape 99"/>
          <p:cNvSpPr/>
          <p:nvPr/>
        </p:nvSpPr>
        <p:spPr>
          <a:xfrm flipV="1">
            <a:off x="6172200" y="3941064"/>
            <a:ext cx="54864" cy="4114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2" name="Shape 100"/>
          <p:cNvSpPr/>
          <p:nvPr/>
        </p:nvSpPr>
        <p:spPr>
          <a:xfrm>
            <a:off x="5577840" y="4160520"/>
            <a:ext cx="1188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13" name="Image 10" descr="img/icon-servic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4416" y="4192524"/>
            <a:ext cx="109728" cy="109728"/>
          </a:xfrm>
          <a:prstGeom prst="rect">
            <a:avLst/>
          </a:prstGeom>
        </p:spPr>
      </p:pic>
      <p:sp>
        <p:nvSpPr>
          <p:cNvPr id="114" name="Text 101"/>
          <p:cNvSpPr txBox="1"/>
          <p:nvPr/>
        </p:nvSpPr>
        <p:spPr>
          <a:xfrm>
            <a:off x="5614416" y="4279392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Выполнить команду, показать журнал</a:t>
            </a:r>
            <a:endParaRPr lang="en-US" sz="900" dirty="0"/>
          </a:p>
        </p:txBody>
      </p:sp>
      <p:sp>
        <p:nvSpPr>
          <p:cNvPr id="115" name="Shape 102"/>
          <p:cNvSpPr/>
          <p:nvPr/>
        </p:nvSpPr>
        <p:spPr>
          <a:xfrm>
            <a:off x="6931152" y="42519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16" name="Shape 103"/>
          <p:cNvSpPr/>
          <p:nvPr/>
        </p:nvSpPr>
        <p:spPr>
          <a:xfrm>
            <a:off x="6172200" y="4096512"/>
            <a:ext cx="914" cy="640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7" name="Shape 104"/>
          <p:cNvSpPr/>
          <p:nvPr/>
        </p:nvSpPr>
        <p:spPr>
          <a:xfrm>
            <a:off x="6766560" y="4361688"/>
            <a:ext cx="16459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8" name="Text 105"/>
          <p:cNvSpPr txBox="1"/>
          <p:nvPr/>
        </p:nvSpPr>
        <p:spPr>
          <a:xfrm>
            <a:off x="5577840" y="4581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Команда разработчика</a:t>
            </a:r>
            <a:endParaRPr lang="en-US" sz="900" dirty="0"/>
          </a:p>
        </p:txBody>
      </p:sp>
      <p:sp>
        <p:nvSpPr>
          <p:cNvPr id="119" name="Shape 106"/>
          <p:cNvSpPr/>
          <p:nvPr/>
        </p:nvSpPr>
        <p:spPr>
          <a:xfrm>
            <a:off x="7744968" y="38587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7776972" y="3890772"/>
            <a:ext cx="173736" cy="17373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1" name="Shape 108"/>
          <p:cNvSpPr/>
          <p:nvPr/>
        </p:nvSpPr>
        <p:spPr>
          <a:xfrm>
            <a:off x="7808976" y="3941064"/>
            <a:ext cx="109728" cy="731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2" name="Shape 109"/>
          <p:cNvSpPr/>
          <p:nvPr/>
        </p:nvSpPr>
        <p:spPr>
          <a:xfrm>
            <a:off x="7808976" y="3941064"/>
            <a:ext cx="54864" cy="4114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3" name="Shape 110"/>
          <p:cNvSpPr/>
          <p:nvPr/>
        </p:nvSpPr>
        <p:spPr>
          <a:xfrm flipV="1">
            <a:off x="7863840" y="3941064"/>
            <a:ext cx="54864" cy="4114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4" name="Shape 111"/>
          <p:cNvSpPr/>
          <p:nvPr/>
        </p:nvSpPr>
        <p:spPr>
          <a:xfrm>
            <a:off x="7269480" y="4160520"/>
            <a:ext cx="1188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5" name="Image 11" descr="img/icon-servic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6056" y="4192524"/>
            <a:ext cx="109728" cy="109728"/>
          </a:xfrm>
          <a:prstGeom prst="rect">
            <a:avLst/>
          </a:prstGeom>
        </p:spPr>
      </p:pic>
      <p:sp>
        <p:nvSpPr>
          <p:cNvPr id="126" name="Text 112"/>
          <p:cNvSpPr txBox="1"/>
          <p:nvPr/>
        </p:nvSpPr>
        <p:spPr>
          <a:xfrm>
            <a:off x="7306056" y="4279392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Остановить все экземпляры</a:t>
            </a:r>
            <a:endParaRPr lang="en-US" sz="900" dirty="0"/>
          </a:p>
        </p:txBody>
      </p:sp>
      <p:sp>
        <p:nvSpPr>
          <p:cNvPr id="127" name="Shape 113"/>
          <p:cNvSpPr/>
          <p:nvPr/>
        </p:nvSpPr>
        <p:spPr>
          <a:xfrm>
            <a:off x="8622792" y="42519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8" name="Shape 114"/>
          <p:cNvSpPr/>
          <p:nvPr/>
        </p:nvSpPr>
        <p:spPr>
          <a:xfrm>
            <a:off x="7863840" y="4096512"/>
            <a:ext cx="914" cy="6400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9" name="Shape 115"/>
          <p:cNvSpPr/>
          <p:nvPr/>
        </p:nvSpPr>
        <p:spPr>
          <a:xfrm>
            <a:off x="8458200" y="4361688"/>
            <a:ext cx="164592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0" name="Text 116"/>
          <p:cNvSpPr txBox="1"/>
          <p:nvPr/>
        </p:nvSpPr>
        <p:spPr>
          <a:xfrm>
            <a:off x="7269480" y="4581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Игра снята с публикации</a:t>
            </a:r>
            <a:endParaRPr lang="en-US" sz="900" dirty="0"/>
          </a:p>
        </p:txBody>
      </p:sp>
      <p:sp>
        <p:nvSpPr>
          <p:cNvPr id="131" name="a1_hl0"/>
          <p:cNvSpPr/>
          <p:nvPr/>
        </p:nvSpPr>
        <p:spPr>
          <a:xfrm>
            <a:off x="2734056" y="1028700"/>
            <a:ext cx="1024128" cy="621792"/>
          </a:xfrm>
          <a:prstGeom prst="roundRect">
            <a:avLst>
              <a:gd name="adj" fmla="val 8824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32" name="a1_m0"/>
          <p:cNvSpPr/>
          <p:nvPr/>
        </p:nvSpPr>
        <p:spPr>
          <a:xfrm>
            <a:off x="3621024" y="891540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3" name="a1_m0_n"/>
          <p:cNvSpPr txBox="1"/>
          <p:nvPr/>
        </p:nvSpPr>
        <p:spPr>
          <a:xfrm>
            <a:off x="3621024" y="8915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34" name="a1_lm"/>
          <p:cNvSpPr/>
          <p:nvPr/>
        </p:nvSpPr>
        <p:spPr>
          <a:xfrm>
            <a:off x="6400800" y="1115568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5" name="a1_lm_n"/>
          <p:cNvSpPr txBox="1"/>
          <p:nvPr/>
        </p:nvSpPr>
        <p:spPr>
          <a:xfrm>
            <a:off x="6400800" y="1115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36" name="a1_lt"/>
          <p:cNvSpPr txBox="1"/>
          <p:nvPr/>
        </p:nvSpPr>
        <p:spPr>
          <a:xfrm>
            <a:off x="667512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Новое: собственные узлы разработчика</a:t>
            </a:r>
            <a:endParaRPr lang="en-US" sz="1000" dirty="0"/>
          </a:p>
        </p:txBody>
      </p:sp>
      <p:sp>
        <p:nvSpPr>
          <p:cNvPr id="137" name="a2_hl0"/>
          <p:cNvSpPr/>
          <p:nvPr/>
        </p:nvSpPr>
        <p:spPr>
          <a:xfrm>
            <a:off x="1476756" y="2971800"/>
            <a:ext cx="1252728" cy="512064"/>
          </a:xfrm>
          <a:prstGeom prst="roundRect">
            <a:avLst>
              <a:gd name="adj" fmla="val 10714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38" name="a2_m0"/>
          <p:cNvSpPr/>
          <p:nvPr/>
        </p:nvSpPr>
        <p:spPr>
          <a:xfrm>
            <a:off x="2592324" y="2834640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9" name="a2_m0_n"/>
          <p:cNvSpPr txBox="1"/>
          <p:nvPr/>
        </p:nvSpPr>
        <p:spPr>
          <a:xfrm>
            <a:off x="2592324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40" name="a2_lm"/>
          <p:cNvSpPr/>
          <p:nvPr/>
        </p:nvSpPr>
        <p:spPr>
          <a:xfrm>
            <a:off x="7086600" y="3063240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1" name="a2_lm_n"/>
          <p:cNvSpPr txBox="1"/>
          <p:nvPr/>
        </p:nvSpPr>
        <p:spPr>
          <a:xfrm>
            <a:off x="7086600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42" name="a2_lt"/>
          <p:cNvSpPr txBox="1"/>
          <p:nvPr/>
        </p:nvSpPr>
        <p:spPr>
          <a:xfrm>
            <a:off x="7360920" y="3044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Запуск по политике, без инженера</a:t>
            </a:r>
            <a:endParaRPr lang="en-US" sz="1000" dirty="0"/>
          </a:p>
        </p:txBody>
      </p:sp>
      <p:sp>
        <p:nvSpPr>
          <p:cNvPr id="143" name="a3_hl0"/>
          <p:cNvSpPr/>
          <p:nvPr/>
        </p:nvSpPr>
        <p:spPr>
          <a:xfrm>
            <a:off x="4425696" y="3429000"/>
            <a:ext cx="1572768" cy="512064"/>
          </a:xfrm>
          <a:prstGeom prst="roundRect">
            <a:avLst>
              <a:gd name="adj" fmla="val 10714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44" name="a3_m0"/>
          <p:cNvSpPr/>
          <p:nvPr/>
        </p:nvSpPr>
        <p:spPr>
          <a:xfrm>
            <a:off x="5861304" y="3291840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5" name="a3_m0_n"/>
          <p:cNvSpPr txBox="1"/>
          <p:nvPr/>
        </p:nvSpPr>
        <p:spPr>
          <a:xfrm>
            <a:off x="5861304" y="3291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46" name="a3_lm"/>
          <p:cNvSpPr/>
          <p:nvPr/>
        </p:nvSpPr>
        <p:spPr>
          <a:xfrm>
            <a:off x="7086600" y="3483864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7" name="a3_lm_n"/>
          <p:cNvSpPr txBox="1"/>
          <p:nvPr/>
        </p:nvSpPr>
        <p:spPr>
          <a:xfrm>
            <a:off x="7086600" y="34838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48" name="a3_lt"/>
          <p:cNvSpPr txBox="1"/>
          <p:nvPr/>
        </p:nvSpPr>
        <p:spPr>
          <a:xfrm>
            <a:off x="7360920" y="34655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Мест нет — новый экземпляр или очередь</a:t>
            </a:r>
            <a:endParaRPr lang="en-US" sz="1000" dirty="0"/>
          </a:p>
        </p:txBody>
      </p:sp>
      <p:sp>
        <p:nvSpPr>
          <p:cNvPr id="149" name="a4_hl0"/>
          <p:cNvSpPr/>
          <p:nvPr/>
        </p:nvSpPr>
        <p:spPr>
          <a:xfrm>
            <a:off x="905256" y="4105656"/>
            <a:ext cx="1298448" cy="512064"/>
          </a:xfrm>
          <a:prstGeom prst="roundRect">
            <a:avLst>
              <a:gd name="adj" fmla="val 10714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50" name="a4_m0"/>
          <p:cNvSpPr/>
          <p:nvPr/>
        </p:nvSpPr>
        <p:spPr>
          <a:xfrm>
            <a:off x="2066544" y="3968496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1" name="a4_m0_n"/>
          <p:cNvSpPr txBox="1"/>
          <p:nvPr/>
        </p:nvSpPr>
        <p:spPr>
          <a:xfrm>
            <a:off x="2066544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52" name="a4_lm"/>
          <p:cNvSpPr/>
          <p:nvPr/>
        </p:nvSpPr>
        <p:spPr>
          <a:xfrm>
            <a:off x="6309360" y="2203704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3" name="a4_lm_n"/>
          <p:cNvSpPr txBox="1"/>
          <p:nvPr/>
        </p:nvSpPr>
        <p:spPr>
          <a:xfrm>
            <a:off x="6309360" y="2203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54" name="a4_lt"/>
          <p:cNvSpPr txBox="1"/>
          <p:nvPr/>
        </p:nvSpPr>
        <p:spPr>
          <a:xfrm>
            <a:off x="6583680" y="21854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Сбой — автоматический перезапуск</a:t>
            </a:r>
            <a:endParaRPr lang="en-US" sz="1000" dirty="0"/>
          </a:p>
        </p:txBody>
      </p:sp>
      <p:sp>
        <p:nvSpPr>
          <p:cNvPr id="155" name="a5_hl0"/>
          <p:cNvSpPr/>
          <p:nvPr/>
        </p:nvSpPr>
        <p:spPr>
          <a:xfrm>
            <a:off x="5522976" y="4105656"/>
            <a:ext cx="1298448" cy="512064"/>
          </a:xfrm>
          <a:prstGeom prst="roundRect">
            <a:avLst>
              <a:gd name="adj" fmla="val 10714"/>
            </a:avLst>
          </a:prstGeom>
          <a:ln w="25400">
            <a:solidFill>
              <a:srgbClr val="2E7D32"/>
            </a:solidFill>
            <a:prstDash val="dash"/>
          </a:ln>
        </p:spPr>
      </p:sp>
      <p:sp>
        <p:nvSpPr>
          <p:cNvPr id="156" name="a5_m0"/>
          <p:cNvSpPr/>
          <p:nvPr/>
        </p:nvSpPr>
        <p:spPr>
          <a:xfrm>
            <a:off x="6684264" y="3968496"/>
            <a:ext cx="237744" cy="237744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7" name="a5_m0_n"/>
          <p:cNvSpPr txBox="1"/>
          <p:nvPr/>
        </p:nvSpPr>
        <p:spPr>
          <a:xfrm>
            <a:off x="6684264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158" name="a5_lm"/>
          <p:cNvSpPr/>
          <p:nvPr/>
        </p:nvSpPr>
        <p:spPr>
          <a:xfrm>
            <a:off x="6309360" y="2450592"/>
            <a:ext cx="219456" cy="219456"/>
          </a:xfrm>
          <a:prstGeom prst="ellipse">
            <a:avLst/>
          </a:prstGeom>
          <a:solidFill>
            <a:srgbClr val="2E7D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9" name="a5_lm_n"/>
          <p:cNvSpPr txBox="1"/>
          <p:nvPr/>
        </p:nvSpPr>
        <p:spPr>
          <a:xfrm>
            <a:off x="6309360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160" name="a5_lt"/>
          <p:cNvSpPr txBox="1"/>
          <p:nvPr/>
        </p:nvSpPr>
        <p:spPr>
          <a:xfrm>
            <a:off x="6583680" y="2432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Команды и журналы — в интерфейсе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СРАВНИТЕЛЬНАЯ ТАБЛИЦА АНАЛОГОВ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005840"/>
                <a:gridCol w="777240"/>
                <a:gridCol w="960120"/>
                <a:gridCol w="658368"/>
                <a:gridCol w="804672"/>
                <a:gridCol w="1417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Критерий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Game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Distribution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Crazy Games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Poki for Developers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itch.io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 Arcade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Разрабатываемая система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Самостоятельная публикация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Многоэтапная модерация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Сквозной чат с модератором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Показатели монетизации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Игровые метрики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Управление игровыми серверами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Свои серверы разработчика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</a:tr>
            </a:tbl>
          </a:graphicData>
        </a:graphic>
      </p:graphicFrame>
      <p:sp>
        <p:nvSpPr>
          <p:cNvPr id="4" name="a1_hl0"/>
          <p:cNvSpPr/>
          <p:nvPr/>
        </p:nvSpPr>
        <p:spPr>
          <a:xfrm>
            <a:off x="329184" y="2258568"/>
            <a:ext cx="8485632" cy="457200"/>
          </a:xfrm>
          <a:prstGeom prst="roundRect">
            <a:avLst>
              <a:gd name="adj" fmla="val 10000"/>
            </a:avLst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5" name="a1_hl1"/>
          <p:cNvSpPr/>
          <p:nvPr/>
        </p:nvSpPr>
        <p:spPr>
          <a:xfrm>
            <a:off x="329184" y="3520440"/>
            <a:ext cx="8485632" cy="457200"/>
          </a:xfrm>
          <a:prstGeom prst="roundRect">
            <a:avLst>
              <a:gd name="adj" fmla="val 10000"/>
            </a:avLst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6" name="a1_cap"/>
          <p:cNvSpPr txBox="1"/>
          <p:nvPr/>
        </p:nvSpPr>
        <p:spPr>
          <a:xfrm>
            <a:off x="365760" y="4462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Сквозной чат и управление игровыми серверами не предоставляет ни один аналог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И ЗАДАЧИ ВКР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работы</a:t>
            </a:r>
            <a:pPr algn="just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повышение эффективности процесса публикации и сопровождения веб‑игр на платформе Welwise Games за счёт разработки автоматизированной системы, переводящей разработчиков на самообслуживание и исключающей ручные операции сотрудников.</a:t>
            </a:r>
            <a:endParaRPr lang="en-US" sz="1600" dirty="0"/>
          </a:p>
          <a:p>
            <a:pPr algn="just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600" dirty="0"/>
          </a:p>
          <a:p>
            <a:pPr algn="just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Задачи:</a:t>
            </a:r>
            <a:endParaRPr lang="en-US" sz="1600" dirty="0"/>
          </a:p>
          <a:p>
            <a:pPr algn="just" marL="342900" indent="-342900">
              <a:spcAft>
                <a:spcPts val="300"/>
              </a:spcAft>
              <a:buSzPct val="100000"/>
              <a:buFont typeface="+mj-lt"/>
              <a:buAutoNum type="arabicParenR" startAt="1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Провести анализ предметной области, бизнес-процессов платформы Welwise Games и существующих аналогов.</a:t>
            </a:r>
            <a:endParaRPr lang="en-US" sz="1600" dirty="0"/>
          </a:p>
          <a:p>
            <a:pPr algn="just" marL="342900" indent="-342900">
              <a:spcAft>
                <a:spcPts val="300"/>
              </a:spcAft>
              <a:buSzPct val="100000"/>
              <a:buFont typeface="+mj-lt"/>
              <a:buAutoNum type="arabicParenR" startAt="1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Построить модели процессов «как есть» и «как будет», выявить проблемы текущего процесса.</a:t>
            </a:r>
            <a:endParaRPr lang="en-US" sz="1600" dirty="0"/>
          </a:p>
          <a:p>
            <a:pPr algn="just" marL="342900" indent="-342900">
              <a:spcAft>
                <a:spcPts val="300"/>
              </a:spcAft>
              <a:buSzPct val="100000"/>
              <a:buFont typeface="+mj-lt"/>
              <a:buAutoNum type="arabicParenR" startAt="1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Разработать техническое задание на систему.</a:t>
            </a:r>
            <a:endParaRPr lang="en-US" sz="1600" dirty="0"/>
          </a:p>
          <a:p>
            <a:pPr algn="just" marL="342900" indent="-342900">
              <a:spcAft>
                <a:spcPts val="300"/>
              </a:spcAft>
              <a:buSzPct val="100000"/>
              <a:buFont typeface="+mj-lt"/>
              <a:buAutoNum type="arabicParenR" startAt="1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Спроектировать архитектуру системы и модель данных.</a:t>
            </a:r>
            <a:endParaRPr lang="en-US" sz="1600" dirty="0"/>
          </a:p>
          <a:p>
            <a:pPr algn="just" marL="342900" indent="-342900">
              <a:spcAft>
                <a:spcPts val="300"/>
              </a:spcAft>
              <a:buSzPct val="100000"/>
              <a:buFont typeface="+mj-lt"/>
              <a:buAutoNum type="arabicParenR" startAt="1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Реализовать подсистемы публикации, модерации, управления игровыми серверами и аналитики.</a:t>
            </a:r>
            <a:endParaRPr lang="en-US" sz="1600" dirty="0"/>
          </a:p>
          <a:p>
            <a:pPr algn="just" marL="342900" indent="-342900">
              <a:spcAft>
                <a:spcPts val="300"/>
              </a:spcAft>
              <a:buSzPct val="100000"/>
              <a:buFont typeface="+mj-lt"/>
              <a:buAutoNum type="arabicParenR" startAt="1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Провести тестирование системы.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ДИАГРАММА ВАРИАНТОВ ИСПОЛЬЗОВАНИЯ</a:t>
            </a:r>
            <a:endParaRPr lang="en-US" sz="2800" dirty="0"/>
          </a:p>
        </p:txBody>
      </p:sp>
      <p:pic>
        <p:nvPicPr>
          <p:cNvPr id="3" name="Image 0" descr="img/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07" y="841248"/>
            <a:ext cx="3663185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507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Рис. 1 — Проекты и аналитика</a:t>
            </a:r>
            <a:endParaRPr lang="en-US" sz="1200" dirty="0"/>
          </a:p>
        </p:txBody>
      </p:sp>
      <p:pic>
        <p:nvPicPr>
          <p:cNvPr id="5" name="Image 1" descr="img/collabo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23590"/>
            <a:ext cx="4069080" cy="2247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4507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Рис. 2 — Совместная работа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ДИАГРАММА ВАРИАНТОВ ИСПОЛЬЗОВАНИЯ</a:t>
            </a:r>
            <a:endParaRPr lang="en-US" sz="2800" dirty="0"/>
          </a:p>
        </p:txBody>
      </p:sp>
      <p:pic>
        <p:nvPicPr>
          <p:cNvPr id="3" name="Image 0" descr="img/mod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462" y="841248"/>
            <a:ext cx="2941676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507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Рис. 3 — Модерация</a:t>
            </a:r>
            <a:endParaRPr lang="en-US" sz="1200" dirty="0"/>
          </a:p>
        </p:txBody>
      </p:sp>
      <p:pic>
        <p:nvPicPr>
          <p:cNvPr id="5" name="Image 1" descr="img/serv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867532"/>
            <a:ext cx="4069080" cy="355931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4507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Рис. 4 — Игровые серверы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ДИАГРАММА ВАРИАНТОВ ИСПОЛЬЗОВАНИЯ</a:t>
            </a:r>
            <a:endParaRPr lang="en-US" sz="2800" dirty="0"/>
          </a:p>
        </p:txBody>
      </p:sp>
      <p:pic>
        <p:nvPicPr>
          <p:cNvPr id="3" name="Image 0" descr="img/n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340" y="841248"/>
            <a:ext cx="3721919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507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Рис. 5 — Узлы и сервисы данных</a:t>
            </a:r>
            <a:endParaRPr lang="en-US" sz="1200" dirty="0"/>
          </a:p>
        </p:txBody>
      </p:sp>
      <p:pic>
        <p:nvPicPr>
          <p:cNvPr id="5" name="Image 1" descr="img/accou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68051"/>
            <a:ext cx="4069080" cy="255827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4507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Рис. 6 — Учётные записи и администрирование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Автоматизированная система управления процессом публикации и сопровождения веб-игр</dc:title>
  <dc:subject>PptxGenJS Presentation</dc:subject>
  <dc:creator>М. В. Наследсков</dc:creator>
  <cp:lastModifiedBy>М. В. Наследсков</cp:lastModifiedBy>
  <cp:revision>1</cp:revision>
  <dcterms:created xsi:type="dcterms:W3CDTF">2026-10-07T20:08:11Z</dcterms:created>
  <dcterms:modified xsi:type="dcterms:W3CDTF">2026-10-07T20:08:11Z</dcterms:modified>
</cp:coreProperties>
</file>